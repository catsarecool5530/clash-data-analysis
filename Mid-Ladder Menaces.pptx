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2" autoAdjust="0"/>
    <p:restoredTop sz="94404" autoAdjust="0"/>
  </p:normalViewPr>
  <p:slideViewPr>
    <p:cSldViewPr snapToGrid="0">
      <p:cViewPr varScale="1">
        <p:scale>
          <a:sx n="68" d="100"/>
          <a:sy n="68" d="100"/>
        </p:scale>
        <p:origin x="864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A74583-ED0F-4253-B485-792C79549015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4AB7B3-DACD-4399-B232-9E33EE7A0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663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4AB7B3-DACD-4399-B232-9E33EE7A030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032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A4B13-B15A-4500-AD36-4F314CEF13DB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9098B-A1BB-4006-8A2C-ECEA09803E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713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A4B13-B15A-4500-AD36-4F314CEF13DB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9098B-A1BB-4006-8A2C-ECEA09803E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332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A4B13-B15A-4500-AD36-4F314CEF13DB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9098B-A1BB-4006-8A2C-ECEA09803E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325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A4B13-B15A-4500-AD36-4F314CEF13DB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9098B-A1BB-4006-8A2C-ECEA09803E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505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A4B13-B15A-4500-AD36-4F314CEF13DB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9098B-A1BB-4006-8A2C-ECEA09803E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706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A4B13-B15A-4500-AD36-4F314CEF13DB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9098B-A1BB-4006-8A2C-ECEA09803E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818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A4B13-B15A-4500-AD36-4F314CEF13DB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9098B-A1BB-4006-8A2C-ECEA09803E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431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A4B13-B15A-4500-AD36-4F314CEF13DB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9098B-A1BB-4006-8A2C-ECEA09803E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418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A4B13-B15A-4500-AD36-4F314CEF13DB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9098B-A1BB-4006-8A2C-ECEA09803E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840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A4B13-B15A-4500-AD36-4F314CEF13DB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9098B-A1BB-4006-8A2C-ECEA09803E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364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A4B13-B15A-4500-AD36-4F314CEF13DB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9098B-A1BB-4006-8A2C-ECEA09803E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36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812A4B13-B15A-4500-AD36-4F314CEF13DB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E49098B-A1BB-4006-8A2C-ECEA09803E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392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lash Royale: Mega Knight Is Here... Use Him or Fight Him!">
            <a:extLst>
              <a:ext uri="{FF2B5EF4-FFF2-40B4-BE49-F238E27FC236}">
                <a16:creationId xmlns:a16="http://schemas.microsoft.com/office/drawing/2014/main" id="{E0B38B0E-A085-2461-9F91-8F831556B6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07" r="13777" b="3140"/>
          <a:stretch>
            <a:fillRect/>
          </a:stretch>
        </p:blipFill>
        <p:spPr bwMode="auto">
          <a:xfrm>
            <a:off x="3622339" y="0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0E04011-30FB-8724-B941-F6D48E92CA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/>
              <a:t>Mid-Ladder Menaces</a:t>
            </a:r>
          </a:p>
        </p:txBody>
      </p:sp>
    </p:spTree>
    <p:extLst>
      <p:ext uri="{BB962C8B-B14F-4D97-AF65-F5344CB8AC3E}">
        <p14:creationId xmlns:p14="http://schemas.microsoft.com/office/powerpoint/2010/main" val="733665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ArtStation - Clash Royale App Icon 2020">
            <a:extLst>
              <a:ext uri="{FF2B5EF4-FFF2-40B4-BE49-F238E27FC236}">
                <a16:creationId xmlns:a16="http://schemas.microsoft.com/office/drawing/2014/main" id="{A6483236-AA31-D69E-9E8B-BDF85248A4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9700" y="790575"/>
            <a:ext cx="5702300" cy="5702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F9D8ED-4DE2-2759-2E00-89D5E3413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Why Do We Clash?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E8CD31-02B3-0CF2-7D82-8B06C9A5C59C}"/>
              </a:ext>
            </a:extLst>
          </p:cNvPr>
          <p:cNvSpPr txBox="1"/>
          <p:nvPr/>
        </p:nvSpPr>
        <p:spPr>
          <a:xfrm>
            <a:off x="622300" y="1981200"/>
            <a:ext cx="49657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Simply, we clash to prove our dominance over others. In Clash Royale, players build decks of cards to battle against each other in high-pressure, intense real-time strategy matches. Like Chess, but higher skill and better. </a:t>
            </a:r>
          </a:p>
        </p:txBody>
      </p:sp>
    </p:spTree>
    <p:extLst>
      <p:ext uri="{BB962C8B-B14F-4D97-AF65-F5344CB8AC3E}">
        <p14:creationId xmlns:p14="http://schemas.microsoft.com/office/powerpoint/2010/main" val="1593889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BA413-BB39-AD26-2AAF-66F581DE4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Data Collection</a:t>
            </a:r>
          </a:p>
        </p:txBody>
      </p:sp>
      <p:pic>
        <p:nvPicPr>
          <p:cNvPr id="2050" name="Picture 2" descr="Clash Royale Logo and symbol, meaning, history, PNG">
            <a:extLst>
              <a:ext uri="{FF2B5EF4-FFF2-40B4-BE49-F238E27FC236}">
                <a16:creationId xmlns:a16="http://schemas.microsoft.com/office/drawing/2014/main" id="{B31406EE-0D67-EC76-65E1-234AA2AEC7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9357" y="1955864"/>
            <a:ext cx="6006922" cy="4215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225DAF-371B-FF2C-352D-7C2B794D51FB}"/>
              </a:ext>
            </a:extLst>
          </p:cNvPr>
          <p:cNvSpPr txBox="1"/>
          <p:nvPr/>
        </p:nvSpPr>
        <p:spPr>
          <a:xfrm>
            <a:off x="5193792" y="2644218"/>
            <a:ext cx="5715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All Data Collected through Clash Royale’s Official API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9C037032-52BD-260E-B879-5F670C2D9AC1}"/>
              </a:ext>
            </a:extLst>
          </p:cNvPr>
          <p:cNvSpPr/>
          <p:nvPr/>
        </p:nvSpPr>
        <p:spPr>
          <a:xfrm>
            <a:off x="13015608" y="2611876"/>
            <a:ext cx="2840477" cy="81712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7820BF-EB38-5E4A-EFB8-695A22AFCBC5}"/>
              </a:ext>
            </a:extLst>
          </p:cNvPr>
          <p:cNvSpPr txBox="1"/>
          <p:nvPr/>
        </p:nvSpPr>
        <p:spPr>
          <a:xfrm>
            <a:off x="16400834" y="2412460"/>
            <a:ext cx="37159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Leaderboards of Top Players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681ADD1A-ED20-EBFE-4C51-8DB31E3EEC7D}"/>
              </a:ext>
            </a:extLst>
          </p:cNvPr>
          <p:cNvSpPr/>
          <p:nvPr/>
        </p:nvSpPr>
        <p:spPr>
          <a:xfrm rot="2203572">
            <a:off x="11882029" y="7626192"/>
            <a:ext cx="2840477" cy="81712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B51D79-D099-CE64-344F-3DFAF51A6DCB}"/>
              </a:ext>
            </a:extLst>
          </p:cNvPr>
          <p:cNvSpPr txBox="1"/>
          <p:nvPr/>
        </p:nvSpPr>
        <p:spPr>
          <a:xfrm>
            <a:off x="14275032" y="8874714"/>
            <a:ext cx="37159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View player stats by ID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CC86CBD5-062C-EE6B-BE70-0F5B9B8CF3CE}"/>
              </a:ext>
            </a:extLst>
          </p:cNvPr>
          <p:cNvSpPr/>
          <p:nvPr/>
        </p:nvSpPr>
        <p:spPr>
          <a:xfrm rot="5400000">
            <a:off x="1481273" y="7873385"/>
            <a:ext cx="1853834" cy="82242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B01045-7CDB-1FE0-B19E-2484443785AB}"/>
              </a:ext>
            </a:extLst>
          </p:cNvPr>
          <p:cNvSpPr txBox="1"/>
          <p:nvPr/>
        </p:nvSpPr>
        <p:spPr>
          <a:xfrm>
            <a:off x="1249226" y="9523786"/>
            <a:ext cx="371596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See recent battles from a player</a:t>
            </a:r>
          </a:p>
        </p:txBody>
      </p:sp>
    </p:spTree>
    <p:extLst>
      <p:ext uri="{BB962C8B-B14F-4D97-AF65-F5344CB8AC3E}">
        <p14:creationId xmlns:p14="http://schemas.microsoft.com/office/powerpoint/2010/main" val="3874244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23CAF-BCF4-914A-8C76-6B8BBF3C1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EDD4E-FB09-9F08-8358-F0DB1FCA9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Data Collection</a:t>
            </a:r>
          </a:p>
        </p:txBody>
      </p:sp>
      <p:pic>
        <p:nvPicPr>
          <p:cNvPr id="2050" name="Picture 2" descr="Clash Royale Logo and symbol, meaning, history, PNG">
            <a:extLst>
              <a:ext uri="{FF2B5EF4-FFF2-40B4-BE49-F238E27FC236}">
                <a16:creationId xmlns:a16="http://schemas.microsoft.com/office/drawing/2014/main" id="{3F8DBD7A-CFE3-352A-83E8-5029AA422B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461" y="1742582"/>
            <a:ext cx="2840477" cy="1993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83D9B3B7-5CDC-B02A-C90F-99AA3698249E}"/>
              </a:ext>
            </a:extLst>
          </p:cNvPr>
          <p:cNvSpPr/>
          <p:nvPr/>
        </p:nvSpPr>
        <p:spPr>
          <a:xfrm>
            <a:off x="3255523" y="1742582"/>
            <a:ext cx="2840477" cy="81712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C7EDEA-D2A0-48AB-EF5A-4453391F9758}"/>
              </a:ext>
            </a:extLst>
          </p:cNvPr>
          <p:cNvSpPr txBox="1"/>
          <p:nvPr/>
        </p:nvSpPr>
        <p:spPr>
          <a:xfrm>
            <a:off x="6571034" y="1491795"/>
            <a:ext cx="37159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Leaderboards of Top Players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488A6005-308E-7A6A-4628-BFDB8DCDDF6B}"/>
              </a:ext>
            </a:extLst>
          </p:cNvPr>
          <p:cNvSpPr/>
          <p:nvPr/>
        </p:nvSpPr>
        <p:spPr>
          <a:xfrm rot="2203572">
            <a:off x="3108991" y="3641989"/>
            <a:ext cx="2840477" cy="81712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E1BA41-3A48-5F50-7240-61B591928DE8}"/>
              </a:ext>
            </a:extLst>
          </p:cNvPr>
          <p:cNvSpPr txBox="1"/>
          <p:nvPr/>
        </p:nvSpPr>
        <p:spPr>
          <a:xfrm>
            <a:off x="5911871" y="4704485"/>
            <a:ext cx="37159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View player stats by ID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3F6DCA4A-0D2D-1D46-FF68-86D7A0B9B782}"/>
              </a:ext>
            </a:extLst>
          </p:cNvPr>
          <p:cNvSpPr/>
          <p:nvPr/>
        </p:nvSpPr>
        <p:spPr>
          <a:xfrm rot="5400000">
            <a:off x="1289453" y="3956454"/>
            <a:ext cx="1154709" cy="93998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41389A-B131-5040-D621-72B5D2D3F2DE}"/>
              </a:ext>
            </a:extLst>
          </p:cNvPr>
          <p:cNvSpPr txBox="1"/>
          <p:nvPr/>
        </p:nvSpPr>
        <p:spPr>
          <a:xfrm>
            <a:off x="587026" y="4919007"/>
            <a:ext cx="349954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See recent battles from a player</a:t>
            </a:r>
          </a:p>
        </p:txBody>
      </p:sp>
      <p:sp>
        <p:nvSpPr>
          <p:cNvPr id="4" name="&quot;Not Allowed&quot; Symbol 3">
            <a:extLst>
              <a:ext uri="{FF2B5EF4-FFF2-40B4-BE49-F238E27FC236}">
                <a16:creationId xmlns:a16="http://schemas.microsoft.com/office/drawing/2014/main" id="{BB81F746-B04C-D85E-FBB2-3B9DBFC819FE}"/>
              </a:ext>
            </a:extLst>
          </p:cNvPr>
          <p:cNvSpPr/>
          <p:nvPr/>
        </p:nvSpPr>
        <p:spPr>
          <a:xfrm>
            <a:off x="6096000" y="1027906"/>
            <a:ext cx="4191000" cy="2353510"/>
          </a:xfrm>
          <a:prstGeom prst="noSmoking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12FDB7-E183-9F60-E1D1-C54568A027EE}"/>
              </a:ext>
            </a:extLst>
          </p:cNvPr>
          <p:cNvSpPr txBox="1"/>
          <p:nvPr/>
        </p:nvSpPr>
        <p:spPr>
          <a:xfrm>
            <a:off x="6858000" y="3644900"/>
            <a:ext cx="4495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I LOVE mid-ladder!</a:t>
            </a:r>
          </a:p>
        </p:txBody>
      </p:sp>
    </p:spTree>
    <p:extLst>
      <p:ext uri="{BB962C8B-B14F-4D97-AF65-F5344CB8AC3E}">
        <p14:creationId xmlns:p14="http://schemas.microsoft.com/office/powerpoint/2010/main" val="6753341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B28D3-D4A8-B32A-54E6-3CC27E088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A “Random” Sample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064685-1A69-79F4-2818-4C490B8F54C4}"/>
              </a:ext>
            </a:extLst>
          </p:cNvPr>
          <p:cNvSpPr txBox="1"/>
          <p:nvPr/>
        </p:nvSpPr>
        <p:spPr>
          <a:xfrm>
            <a:off x="927100" y="1828800"/>
            <a:ext cx="18838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Seed ID</a:t>
            </a:r>
          </a:p>
        </p:txBody>
      </p:sp>
      <p:sp>
        <p:nvSpPr>
          <p:cNvPr id="5" name="Arrow: Left-Right 4">
            <a:extLst>
              <a:ext uri="{FF2B5EF4-FFF2-40B4-BE49-F238E27FC236}">
                <a16:creationId xmlns:a16="http://schemas.microsoft.com/office/drawing/2014/main" id="{1EF17986-95C4-2DA7-B681-A460CB16EC14}"/>
              </a:ext>
            </a:extLst>
          </p:cNvPr>
          <p:cNvSpPr/>
          <p:nvPr/>
        </p:nvSpPr>
        <p:spPr>
          <a:xfrm>
            <a:off x="2937934" y="1828800"/>
            <a:ext cx="1634066" cy="707886"/>
          </a:xfrm>
          <a:prstGeom prst="left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DBB3A6-CD45-547D-142D-C92549A52EC7}"/>
              </a:ext>
            </a:extLst>
          </p:cNvPr>
          <p:cNvSpPr txBox="1"/>
          <p:nvPr/>
        </p:nvSpPr>
        <p:spPr>
          <a:xfrm>
            <a:off x="2937934" y="1506022"/>
            <a:ext cx="1761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Battles with….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AA75F6-43BA-2E9F-95D1-D51B64941864}"/>
              </a:ext>
            </a:extLst>
          </p:cNvPr>
          <p:cNvSpPr txBox="1"/>
          <p:nvPr/>
        </p:nvSpPr>
        <p:spPr>
          <a:xfrm>
            <a:off x="4699000" y="1828800"/>
            <a:ext cx="18838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#2</a:t>
            </a:r>
          </a:p>
        </p:txBody>
      </p:sp>
      <p:sp>
        <p:nvSpPr>
          <p:cNvPr id="8" name="Arrow: Left-Right 7">
            <a:extLst>
              <a:ext uri="{FF2B5EF4-FFF2-40B4-BE49-F238E27FC236}">
                <a16:creationId xmlns:a16="http://schemas.microsoft.com/office/drawing/2014/main" id="{9DC9BC58-5F95-22CD-3269-6ADC559FB5B9}"/>
              </a:ext>
            </a:extLst>
          </p:cNvPr>
          <p:cNvSpPr/>
          <p:nvPr/>
        </p:nvSpPr>
        <p:spPr>
          <a:xfrm rot="2584430">
            <a:off x="2136790" y="2738507"/>
            <a:ext cx="1634066" cy="707886"/>
          </a:xfrm>
          <a:prstGeom prst="left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4069D5-B9D9-3796-98AE-DAF28258654C}"/>
              </a:ext>
            </a:extLst>
          </p:cNvPr>
          <p:cNvSpPr txBox="1"/>
          <p:nvPr/>
        </p:nvSpPr>
        <p:spPr>
          <a:xfrm>
            <a:off x="3615267" y="3613429"/>
            <a:ext cx="78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#3</a:t>
            </a:r>
          </a:p>
        </p:txBody>
      </p:sp>
      <p:sp>
        <p:nvSpPr>
          <p:cNvPr id="10" name="Arrow: Left-Right 9">
            <a:extLst>
              <a:ext uri="{FF2B5EF4-FFF2-40B4-BE49-F238E27FC236}">
                <a16:creationId xmlns:a16="http://schemas.microsoft.com/office/drawing/2014/main" id="{6164E4A6-7C87-AC92-7AD1-77C3E858A58F}"/>
              </a:ext>
            </a:extLst>
          </p:cNvPr>
          <p:cNvSpPr/>
          <p:nvPr/>
        </p:nvSpPr>
        <p:spPr>
          <a:xfrm rot="5400000">
            <a:off x="649970" y="2889710"/>
            <a:ext cx="1634066" cy="707886"/>
          </a:xfrm>
          <a:prstGeom prst="left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12AD0A-C0D2-EC18-E86A-8BDAEB91944F}"/>
              </a:ext>
            </a:extLst>
          </p:cNvPr>
          <p:cNvSpPr txBox="1"/>
          <p:nvPr/>
        </p:nvSpPr>
        <p:spPr>
          <a:xfrm>
            <a:off x="1033546" y="4270515"/>
            <a:ext cx="78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#4</a:t>
            </a:r>
          </a:p>
        </p:txBody>
      </p:sp>
      <p:sp>
        <p:nvSpPr>
          <p:cNvPr id="12" name="Arrow: Left-Right 11">
            <a:extLst>
              <a:ext uri="{FF2B5EF4-FFF2-40B4-BE49-F238E27FC236}">
                <a16:creationId xmlns:a16="http://schemas.microsoft.com/office/drawing/2014/main" id="{B2F8BC39-486F-1AC8-8525-A7C5BFEF6B11}"/>
              </a:ext>
            </a:extLst>
          </p:cNvPr>
          <p:cNvSpPr/>
          <p:nvPr/>
        </p:nvSpPr>
        <p:spPr>
          <a:xfrm>
            <a:off x="5660667" y="1718734"/>
            <a:ext cx="1634066" cy="707886"/>
          </a:xfrm>
          <a:prstGeom prst="left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E0D03A-F2CB-4EE8-C8CC-61CD3A8CBBAC}"/>
              </a:ext>
            </a:extLst>
          </p:cNvPr>
          <p:cNvSpPr txBox="1"/>
          <p:nvPr/>
        </p:nvSpPr>
        <p:spPr>
          <a:xfrm>
            <a:off x="7612235" y="1690688"/>
            <a:ext cx="78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#5</a:t>
            </a:r>
          </a:p>
        </p:txBody>
      </p:sp>
      <p:sp>
        <p:nvSpPr>
          <p:cNvPr id="15" name="Arrow: Left-Right 14">
            <a:extLst>
              <a:ext uri="{FF2B5EF4-FFF2-40B4-BE49-F238E27FC236}">
                <a16:creationId xmlns:a16="http://schemas.microsoft.com/office/drawing/2014/main" id="{49A95BAB-55F8-B9A1-1BC8-5138A823E00B}"/>
              </a:ext>
            </a:extLst>
          </p:cNvPr>
          <p:cNvSpPr/>
          <p:nvPr/>
        </p:nvSpPr>
        <p:spPr>
          <a:xfrm rot="1843413">
            <a:off x="5296491" y="2721113"/>
            <a:ext cx="1634066" cy="707886"/>
          </a:xfrm>
          <a:prstGeom prst="left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E55CF6-E49F-815D-DBAC-A5F3A47C0D0F}"/>
              </a:ext>
            </a:extLst>
          </p:cNvPr>
          <p:cNvSpPr txBox="1"/>
          <p:nvPr/>
        </p:nvSpPr>
        <p:spPr>
          <a:xfrm>
            <a:off x="7218535" y="3075057"/>
            <a:ext cx="78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#6</a:t>
            </a:r>
          </a:p>
        </p:txBody>
      </p:sp>
      <p:sp>
        <p:nvSpPr>
          <p:cNvPr id="17" name="Arrow: Left-Right 16">
            <a:extLst>
              <a:ext uri="{FF2B5EF4-FFF2-40B4-BE49-F238E27FC236}">
                <a16:creationId xmlns:a16="http://schemas.microsoft.com/office/drawing/2014/main" id="{9C5B5C50-DCA7-F076-76E9-2DAD4D4ED9FD}"/>
              </a:ext>
            </a:extLst>
          </p:cNvPr>
          <p:cNvSpPr/>
          <p:nvPr/>
        </p:nvSpPr>
        <p:spPr>
          <a:xfrm rot="1843413">
            <a:off x="4387741" y="3967368"/>
            <a:ext cx="1634066" cy="707886"/>
          </a:xfrm>
          <a:prstGeom prst="left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E089A6-CEEB-9BE8-C521-6B0B2952F0F1}"/>
              </a:ext>
            </a:extLst>
          </p:cNvPr>
          <p:cNvSpPr txBox="1"/>
          <p:nvPr/>
        </p:nvSpPr>
        <p:spPr>
          <a:xfrm>
            <a:off x="6309785" y="4321312"/>
            <a:ext cx="78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#7</a:t>
            </a:r>
          </a:p>
        </p:txBody>
      </p:sp>
      <p:sp>
        <p:nvSpPr>
          <p:cNvPr id="19" name="Arrow: Left-Right 18">
            <a:extLst>
              <a:ext uri="{FF2B5EF4-FFF2-40B4-BE49-F238E27FC236}">
                <a16:creationId xmlns:a16="http://schemas.microsoft.com/office/drawing/2014/main" id="{534B906E-6028-C62B-FA64-4593C5BAA21E}"/>
              </a:ext>
            </a:extLst>
          </p:cNvPr>
          <p:cNvSpPr/>
          <p:nvPr/>
        </p:nvSpPr>
        <p:spPr>
          <a:xfrm rot="4224787">
            <a:off x="3367107" y="4617978"/>
            <a:ext cx="1634066" cy="707886"/>
          </a:xfrm>
          <a:prstGeom prst="left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D60DE1-B8CE-4133-F8BD-9F73761CE7CB}"/>
              </a:ext>
            </a:extLst>
          </p:cNvPr>
          <p:cNvSpPr txBox="1"/>
          <p:nvPr/>
        </p:nvSpPr>
        <p:spPr>
          <a:xfrm>
            <a:off x="4321589" y="5751993"/>
            <a:ext cx="78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#8</a:t>
            </a:r>
          </a:p>
        </p:txBody>
      </p:sp>
      <p:sp>
        <p:nvSpPr>
          <p:cNvPr id="21" name="Arrow: Left-Right 20">
            <a:extLst>
              <a:ext uri="{FF2B5EF4-FFF2-40B4-BE49-F238E27FC236}">
                <a16:creationId xmlns:a16="http://schemas.microsoft.com/office/drawing/2014/main" id="{779E035E-FD82-AAD7-277F-E904D74DBB67}"/>
              </a:ext>
            </a:extLst>
          </p:cNvPr>
          <p:cNvSpPr/>
          <p:nvPr/>
        </p:nvSpPr>
        <p:spPr>
          <a:xfrm rot="2688387">
            <a:off x="1666027" y="4967163"/>
            <a:ext cx="1634066" cy="707886"/>
          </a:xfrm>
          <a:prstGeom prst="left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5A6C230-E789-D8EC-4802-B042CF6A5F11}"/>
              </a:ext>
            </a:extLst>
          </p:cNvPr>
          <p:cNvSpPr txBox="1"/>
          <p:nvPr/>
        </p:nvSpPr>
        <p:spPr>
          <a:xfrm>
            <a:off x="2676823" y="5946399"/>
            <a:ext cx="78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#9</a:t>
            </a:r>
          </a:p>
        </p:txBody>
      </p:sp>
      <p:sp>
        <p:nvSpPr>
          <p:cNvPr id="23" name="Arrow: Left-Right 22">
            <a:extLst>
              <a:ext uri="{FF2B5EF4-FFF2-40B4-BE49-F238E27FC236}">
                <a16:creationId xmlns:a16="http://schemas.microsoft.com/office/drawing/2014/main" id="{F38B6DBB-6AED-C1C1-3B6D-0DC47460A7A4}"/>
              </a:ext>
            </a:extLst>
          </p:cNvPr>
          <p:cNvSpPr/>
          <p:nvPr/>
        </p:nvSpPr>
        <p:spPr>
          <a:xfrm rot="4224787">
            <a:off x="898786" y="5053162"/>
            <a:ext cx="953531" cy="707886"/>
          </a:xfrm>
          <a:prstGeom prst="left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A71B849-F2EE-DC99-C5F8-BEED5C213CDC}"/>
              </a:ext>
            </a:extLst>
          </p:cNvPr>
          <p:cNvSpPr txBox="1"/>
          <p:nvPr/>
        </p:nvSpPr>
        <p:spPr>
          <a:xfrm>
            <a:off x="1113059" y="5879388"/>
            <a:ext cx="12322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#10</a:t>
            </a:r>
          </a:p>
        </p:txBody>
      </p:sp>
      <p:sp>
        <p:nvSpPr>
          <p:cNvPr id="25" name="Arrow: Left-Right 24">
            <a:extLst>
              <a:ext uri="{FF2B5EF4-FFF2-40B4-BE49-F238E27FC236}">
                <a16:creationId xmlns:a16="http://schemas.microsoft.com/office/drawing/2014/main" id="{D3E04F46-3329-F220-D7B0-EA8F9423ADDC}"/>
              </a:ext>
            </a:extLst>
          </p:cNvPr>
          <p:cNvSpPr/>
          <p:nvPr/>
        </p:nvSpPr>
        <p:spPr>
          <a:xfrm>
            <a:off x="8442655" y="1591248"/>
            <a:ext cx="1634066" cy="707886"/>
          </a:xfrm>
          <a:prstGeom prst="left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Arrow: Left-Right 25">
            <a:extLst>
              <a:ext uri="{FF2B5EF4-FFF2-40B4-BE49-F238E27FC236}">
                <a16:creationId xmlns:a16="http://schemas.microsoft.com/office/drawing/2014/main" id="{84F84069-018A-D866-1DF7-0A8C199178E3}"/>
              </a:ext>
            </a:extLst>
          </p:cNvPr>
          <p:cNvSpPr/>
          <p:nvPr/>
        </p:nvSpPr>
        <p:spPr>
          <a:xfrm>
            <a:off x="8111770" y="3016251"/>
            <a:ext cx="1634066" cy="707886"/>
          </a:xfrm>
          <a:prstGeom prst="left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Arrow: Left-Right 26">
            <a:extLst>
              <a:ext uri="{FF2B5EF4-FFF2-40B4-BE49-F238E27FC236}">
                <a16:creationId xmlns:a16="http://schemas.microsoft.com/office/drawing/2014/main" id="{EBEDC311-F6B0-E804-BBF3-2CE0169B1446}"/>
              </a:ext>
            </a:extLst>
          </p:cNvPr>
          <p:cNvSpPr/>
          <p:nvPr/>
        </p:nvSpPr>
        <p:spPr>
          <a:xfrm>
            <a:off x="7294733" y="4335109"/>
            <a:ext cx="1634066" cy="707886"/>
          </a:xfrm>
          <a:prstGeom prst="left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EDC172E2-C576-00BC-0D4C-E2315A0E960C}"/>
              </a:ext>
            </a:extLst>
          </p:cNvPr>
          <p:cNvSpPr/>
          <p:nvPr/>
        </p:nvSpPr>
        <p:spPr>
          <a:xfrm>
            <a:off x="10431427" y="1801303"/>
            <a:ext cx="153458" cy="156620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F59F5FD9-EC37-3622-024B-22AF93FAABD2}"/>
              </a:ext>
            </a:extLst>
          </p:cNvPr>
          <p:cNvSpPr/>
          <p:nvPr/>
        </p:nvSpPr>
        <p:spPr>
          <a:xfrm>
            <a:off x="10638531" y="1801303"/>
            <a:ext cx="153458" cy="156620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lowchart: Connector 32">
            <a:extLst>
              <a:ext uri="{FF2B5EF4-FFF2-40B4-BE49-F238E27FC236}">
                <a16:creationId xmlns:a16="http://schemas.microsoft.com/office/drawing/2014/main" id="{26CE864D-6D38-328C-D785-195144BAA29B}"/>
              </a:ext>
            </a:extLst>
          </p:cNvPr>
          <p:cNvSpPr/>
          <p:nvPr/>
        </p:nvSpPr>
        <p:spPr>
          <a:xfrm>
            <a:off x="10845635" y="1797044"/>
            <a:ext cx="153458" cy="156620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lowchart: Connector 33">
            <a:extLst>
              <a:ext uri="{FF2B5EF4-FFF2-40B4-BE49-F238E27FC236}">
                <a16:creationId xmlns:a16="http://schemas.microsoft.com/office/drawing/2014/main" id="{9ED48561-F3E7-B83E-5393-C9CD1F1E9621}"/>
              </a:ext>
            </a:extLst>
          </p:cNvPr>
          <p:cNvSpPr/>
          <p:nvPr/>
        </p:nvSpPr>
        <p:spPr>
          <a:xfrm>
            <a:off x="10070865" y="3354949"/>
            <a:ext cx="153458" cy="156620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lowchart: Connector 34">
            <a:extLst>
              <a:ext uri="{FF2B5EF4-FFF2-40B4-BE49-F238E27FC236}">
                <a16:creationId xmlns:a16="http://schemas.microsoft.com/office/drawing/2014/main" id="{9BBEDEDD-4124-26D7-A281-433E56ADA5B6}"/>
              </a:ext>
            </a:extLst>
          </p:cNvPr>
          <p:cNvSpPr/>
          <p:nvPr/>
        </p:nvSpPr>
        <p:spPr>
          <a:xfrm>
            <a:off x="10277969" y="3354949"/>
            <a:ext cx="153458" cy="156620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D59A1828-6CC8-CCC3-627C-6B6D5AC25D60}"/>
              </a:ext>
            </a:extLst>
          </p:cNvPr>
          <p:cNvSpPr/>
          <p:nvPr/>
        </p:nvSpPr>
        <p:spPr>
          <a:xfrm>
            <a:off x="10485073" y="3350690"/>
            <a:ext cx="153458" cy="156620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lowchart: Connector 36">
            <a:extLst>
              <a:ext uri="{FF2B5EF4-FFF2-40B4-BE49-F238E27FC236}">
                <a16:creationId xmlns:a16="http://schemas.microsoft.com/office/drawing/2014/main" id="{F2C0FA8F-56E2-8E41-7B77-BAB45D46DBF4}"/>
              </a:ext>
            </a:extLst>
          </p:cNvPr>
          <p:cNvSpPr/>
          <p:nvPr/>
        </p:nvSpPr>
        <p:spPr>
          <a:xfrm>
            <a:off x="9331628" y="4563126"/>
            <a:ext cx="153458" cy="156620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lowchart: Connector 37">
            <a:extLst>
              <a:ext uri="{FF2B5EF4-FFF2-40B4-BE49-F238E27FC236}">
                <a16:creationId xmlns:a16="http://schemas.microsoft.com/office/drawing/2014/main" id="{356E2C86-F57F-DCD4-E617-3B6ACF1C2CBF}"/>
              </a:ext>
            </a:extLst>
          </p:cNvPr>
          <p:cNvSpPr/>
          <p:nvPr/>
        </p:nvSpPr>
        <p:spPr>
          <a:xfrm>
            <a:off x="9538732" y="4563126"/>
            <a:ext cx="153458" cy="156620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lowchart: Connector 38">
            <a:extLst>
              <a:ext uri="{FF2B5EF4-FFF2-40B4-BE49-F238E27FC236}">
                <a16:creationId xmlns:a16="http://schemas.microsoft.com/office/drawing/2014/main" id="{A852B5CA-6077-2B62-0DE8-327DCC55E935}"/>
              </a:ext>
            </a:extLst>
          </p:cNvPr>
          <p:cNvSpPr/>
          <p:nvPr/>
        </p:nvSpPr>
        <p:spPr>
          <a:xfrm>
            <a:off x="9745836" y="4558867"/>
            <a:ext cx="153458" cy="156620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202B02FC-31AF-52F6-A9C7-03FDBF6DEE75}"/>
              </a:ext>
            </a:extLst>
          </p:cNvPr>
          <p:cNvSpPr/>
          <p:nvPr/>
        </p:nvSpPr>
        <p:spPr>
          <a:xfrm>
            <a:off x="6804327" y="6423585"/>
            <a:ext cx="153458" cy="156620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lowchart: Connector 40">
            <a:extLst>
              <a:ext uri="{FF2B5EF4-FFF2-40B4-BE49-F238E27FC236}">
                <a16:creationId xmlns:a16="http://schemas.microsoft.com/office/drawing/2014/main" id="{5969DD32-48A9-EE45-2664-64CB06A4C3F8}"/>
              </a:ext>
            </a:extLst>
          </p:cNvPr>
          <p:cNvSpPr/>
          <p:nvPr/>
        </p:nvSpPr>
        <p:spPr>
          <a:xfrm>
            <a:off x="7011431" y="6423585"/>
            <a:ext cx="153458" cy="156620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lowchart: Connector 41">
            <a:extLst>
              <a:ext uri="{FF2B5EF4-FFF2-40B4-BE49-F238E27FC236}">
                <a16:creationId xmlns:a16="http://schemas.microsoft.com/office/drawing/2014/main" id="{A5C689C0-8884-EAFD-1EC7-EBB41E9BE55D}"/>
              </a:ext>
            </a:extLst>
          </p:cNvPr>
          <p:cNvSpPr/>
          <p:nvPr/>
        </p:nvSpPr>
        <p:spPr>
          <a:xfrm>
            <a:off x="7218535" y="6419326"/>
            <a:ext cx="153458" cy="156620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Arrow: Left-Right 42">
            <a:extLst>
              <a:ext uri="{FF2B5EF4-FFF2-40B4-BE49-F238E27FC236}">
                <a16:creationId xmlns:a16="http://schemas.microsoft.com/office/drawing/2014/main" id="{B573227B-C48D-92DA-D72B-4B05DF01D711}"/>
              </a:ext>
            </a:extLst>
          </p:cNvPr>
          <p:cNvSpPr/>
          <p:nvPr/>
        </p:nvSpPr>
        <p:spPr>
          <a:xfrm rot="4317480">
            <a:off x="6365434" y="5199827"/>
            <a:ext cx="1031244" cy="707886"/>
          </a:xfrm>
          <a:prstGeom prst="left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6395701-6C3D-1AF8-068D-A52C96555A75}"/>
              </a:ext>
            </a:extLst>
          </p:cNvPr>
          <p:cNvSpPr txBox="1"/>
          <p:nvPr/>
        </p:nvSpPr>
        <p:spPr>
          <a:xfrm>
            <a:off x="8988568" y="5476038"/>
            <a:ext cx="34533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/>
              <a:t>DFS!</a:t>
            </a:r>
          </a:p>
        </p:txBody>
      </p:sp>
    </p:spTree>
    <p:extLst>
      <p:ext uri="{BB962C8B-B14F-4D97-AF65-F5344CB8AC3E}">
        <p14:creationId xmlns:p14="http://schemas.microsoft.com/office/powerpoint/2010/main" val="2849367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  <p:bldP spid="8" grpId="0" animBg="1"/>
      <p:bldP spid="9" grpId="0"/>
      <p:bldP spid="10" grpId="0" animBg="1"/>
      <p:bldP spid="11" grpId="0"/>
      <p:bldP spid="12" grpId="0" animBg="1"/>
      <p:bldP spid="14" grpId="0"/>
      <p:bldP spid="15" grpId="0" animBg="1"/>
      <p:bldP spid="16" grpId="0"/>
      <p:bldP spid="17" grpId="0" animBg="1"/>
      <p:bldP spid="18" grpId="0"/>
      <p:bldP spid="19" grpId="0" animBg="1"/>
      <p:bldP spid="20" grpId="0"/>
      <p:bldP spid="21" grpId="0" animBg="1"/>
      <p:bldP spid="22" grpId="0"/>
      <p:bldP spid="23" grpId="0" animBg="1"/>
      <p:bldP spid="24" grpId="0"/>
      <p:bldP spid="25" grpId="0" animBg="1"/>
      <p:bldP spid="26" grpId="0" animBg="1"/>
      <p:bldP spid="27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8F0F9-120E-5CE9-F827-62C9FC349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780C5-FE9C-0CAD-11EF-2088516DD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Limitations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4280DB-9C79-FD1F-EE63-7E4D19AB030E}"/>
              </a:ext>
            </a:extLst>
          </p:cNvPr>
          <p:cNvSpPr txBox="1"/>
          <p:nvPr/>
        </p:nvSpPr>
        <p:spPr>
          <a:xfrm>
            <a:off x="905256" y="1901952"/>
            <a:ext cx="100584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Acts as sample of </a:t>
            </a:r>
            <a:r>
              <a:rPr lang="en-US" sz="4000" i="1" dirty="0"/>
              <a:t>battles, </a:t>
            </a:r>
            <a:r>
              <a:rPr lang="en-US" sz="4000" dirty="0"/>
              <a:t>not players </a:t>
            </a:r>
          </a:p>
          <a:p>
            <a:endParaRPr lang="en-US" sz="4000" dirty="0"/>
          </a:p>
          <a:p>
            <a:r>
              <a:rPr lang="en-US" sz="4000" dirty="0"/>
              <a:t>Will overrepresent the types of players I tend to play against</a:t>
            </a:r>
          </a:p>
          <a:p>
            <a:endParaRPr lang="en-US" sz="4000" dirty="0"/>
          </a:p>
          <a:p>
            <a:r>
              <a:rPr lang="en-US" sz="4000" dirty="0"/>
              <a:t>Does not have any measures against bots</a:t>
            </a:r>
          </a:p>
        </p:txBody>
      </p:sp>
    </p:spTree>
    <p:extLst>
      <p:ext uri="{BB962C8B-B14F-4D97-AF65-F5344CB8AC3E}">
        <p14:creationId xmlns:p14="http://schemas.microsoft.com/office/powerpoint/2010/main" val="3175480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5C563-F345-2CA7-0C5D-7936CC5E9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53277-06BD-0535-9E46-B65109B04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10,000 Samples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DA4C88-8FB0-AF17-3D82-0C3B7FBDA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0688"/>
            <a:ext cx="12192000" cy="4858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839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C7360-F032-727A-944F-AA627DCCA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B55F0-B730-5EDC-8C8E-30F3A8EC3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Initial Analyzing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268396-66BB-45DD-D4A2-61D5A2E320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8603" y="5187226"/>
            <a:ext cx="1305649" cy="13056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EE02AC-175D-925F-BD4F-3D7DDBB391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5201157"/>
            <a:ext cx="1291718" cy="12917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C6A7F4B-FE14-4F87-6168-8286CD82B7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9466" y="5187226"/>
            <a:ext cx="1291718" cy="12917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26BFF64-AFAD-497A-AEE7-B9BB12CE87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62932" y="5187226"/>
            <a:ext cx="1291718" cy="129171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A6DBB02-7C71-211D-DA45-55DD07E51492}"/>
              </a:ext>
            </a:extLst>
          </p:cNvPr>
          <p:cNvSpPr txBox="1"/>
          <p:nvPr/>
        </p:nvSpPr>
        <p:spPr>
          <a:xfrm>
            <a:off x="722376" y="1883664"/>
            <a:ext cx="76352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Let’s check our assumptions.</a:t>
            </a:r>
          </a:p>
        </p:txBody>
      </p:sp>
    </p:spTree>
    <p:extLst>
      <p:ext uri="{BB962C8B-B14F-4D97-AF65-F5344CB8AC3E}">
        <p14:creationId xmlns:p14="http://schemas.microsoft.com/office/powerpoint/2010/main" val="30021655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61A73-9A6F-CC49-F9C7-32214AB9A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69A14-AEDA-81A8-DE5E-71BE0F300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Initial Analyzing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86EB9C-B1F8-5C55-02BF-4E7A3B307E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51" y="1825974"/>
            <a:ext cx="4666902" cy="46669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6A8B78-4365-4B0D-AF89-DE72DB5FAD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5201157"/>
            <a:ext cx="1291718" cy="12917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079DE4-04E4-B1BC-12B4-EDF73E7CFD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9466" y="5187226"/>
            <a:ext cx="1291718" cy="12917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E2D40A0-FFB2-37AF-A8F7-5A7871E3D4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2932" y="5187226"/>
            <a:ext cx="1291718" cy="129171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B1A7AA9-5D17-2B50-D3A1-4BF0F2C8A67D}"/>
              </a:ext>
            </a:extLst>
          </p:cNvPr>
          <p:cNvSpPr txBox="1"/>
          <p:nvPr/>
        </p:nvSpPr>
        <p:spPr>
          <a:xfrm>
            <a:off x="-8129795" y="2117128"/>
            <a:ext cx="76352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Let’s check our assumptions.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A47185-A831-443E-AA8F-31DC525970B7}"/>
              </a:ext>
            </a:extLst>
          </p:cNvPr>
          <p:cNvSpPr txBox="1"/>
          <p:nvPr/>
        </p:nvSpPr>
        <p:spPr>
          <a:xfrm>
            <a:off x="5892799" y="1690688"/>
            <a:ext cx="595589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Distribution of Player Trophies:</a:t>
            </a:r>
          </a:p>
          <a:p>
            <a:pPr marL="571500" indent="-571500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4000" dirty="0"/>
              <a:t>Spikes at Arena Boundaries</a:t>
            </a:r>
          </a:p>
          <a:p>
            <a:pPr marL="571500" indent="-571500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4000" dirty="0"/>
              <a:t>Similar to Official </a:t>
            </a:r>
            <a:r>
              <a:rPr lang="en-US" sz="4000" dirty="0" err="1"/>
              <a:t>Dist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5623828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FDAB6-CE80-2E04-6DD3-A64C65AE3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D82B0-826C-8F11-FB10-D30051147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Initial Analyzing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7A0687-916E-7A42-02A5-465038BE3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67862" y="5201157"/>
            <a:ext cx="1291719" cy="12917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E5C75F-3D18-FB46-2149-C8386ECFFF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891" y="1521098"/>
            <a:ext cx="4971777" cy="49717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E618DF-7D58-8077-E9D5-E81F089637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9157" y="5201157"/>
            <a:ext cx="1291718" cy="12917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5CA2E5A-B03B-F33A-CFAA-DDDE17B7AD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6638" y="5201157"/>
            <a:ext cx="1291718" cy="129171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246F39E-B1E5-5647-C395-DA536146622B}"/>
              </a:ext>
            </a:extLst>
          </p:cNvPr>
          <p:cNvSpPr txBox="1"/>
          <p:nvPr/>
        </p:nvSpPr>
        <p:spPr>
          <a:xfrm>
            <a:off x="-8129795" y="2117128"/>
            <a:ext cx="76352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Let’s check our assumptions.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C72C1A-9EFB-9066-D75F-158326009105}"/>
              </a:ext>
            </a:extLst>
          </p:cNvPr>
          <p:cNvSpPr txBox="1"/>
          <p:nvPr/>
        </p:nvSpPr>
        <p:spPr>
          <a:xfrm>
            <a:off x="5892799" y="1690688"/>
            <a:ext cx="595589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Win Rate </a:t>
            </a:r>
            <a:r>
              <a:rPr lang="en-US" sz="4000" dirty="0" err="1"/>
              <a:t>Dist</a:t>
            </a:r>
            <a:r>
              <a:rPr lang="en-US" sz="4000" dirty="0"/>
              <a:t>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Mean of 54%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Stretches from 0-100%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Odd Spike at 30%</a:t>
            </a:r>
          </a:p>
        </p:txBody>
      </p:sp>
    </p:spTree>
    <p:extLst>
      <p:ext uri="{BB962C8B-B14F-4D97-AF65-F5344CB8AC3E}">
        <p14:creationId xmlns:p14="http://schemas.microsoft.com/office/powerpoint/2010/main" val="7027321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AFA52-CDA7-3CCF-0ECB-5CB1DE541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3F937-2722-A1C8-A673-50B52AC88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Initial Analyzing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BAB66B-B885-05BF-139E-F4C9CC374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95072" y="5087587"/>
            <a:ext cx="1405288" cy="14052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4D03A33-DDB9-5553-ADA7-F48467E84F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609" y="1690688"/>
            <a:ext cx="4759292" cy="47592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3DBC0C7-30FD-58B1-0007-2AECA76DDC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4327" y="5144372"/>
            <a:ext cx="1291718" cy="129171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A40D1AC-E4F3-7209-DD32-55A41C1DAD4D}"/>
              </a:ext>
            </a:extLst>
          </p:cNvPr>
          <p:cNvSpPr txBox="1"/>
          <p:nvPr/>
        </p:nvSpPr>
        <p:spPr>
          <a:xfrm>
            <a:off x="5892799" y="1690688"/>
            <a:ext cx="595589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Q-Q for win rate: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Not Normal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Fat tails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Lots of very low/high </a:t>
            </a:r>
            <a:r>
              <a:rPr lang="en-US" sz="4000" dirty="0" err="1"/>
              <a:t>winrates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6714614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B387B-835C-0011-CB12-BDB55A431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93858-7430-8B4A-A8E5-9D3178C82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Initial Analyzing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888B70-80AB-F1D7-617C-317A42B45D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95072" y="5087587"/>
            <a:ext cx="1405288" cy="14052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DED6E00-800F-ECD7-1DC4-1F525FEA08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287471" y="5187267"/>
            <a:ext cx="1305608" cy="13056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CA8A38C-ED76-3232-06BF-5410A9421B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895" y="1666283"/>
            <a:ext cx="4826592" cy="482659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4DB1484-D6FE-86D5-3849-F0B37D561802}"/>
              </a:ext>
            </a:extLst>
          </p:cNvPr>
          <p:cNvSpPr txBox="1"/>
          <p:nvPr/>
        </p:nvSpPr>
        <p:spPr>
          <a:xfrm>
            <a:off x="5892799" y="1690688"/>
            <a:ext cx="595589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Win Rate vs. Trophies: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Two Trendlines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Likely Bots</a:t>
            </a:r>
          </a:p>
        </p:txBody>
      </p:sp>
    </p:spTree>
    <p:extLst>
      <p:ext uri="{BB962C8B-B14F-4D97-AF65-F5344CB8AC3E}">
        <p14:creationId xmlns:p14="http://schemas.microsoft.com/office/powerpoint/2010/main" val="10562095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C6022-F116-3F2C-DA62-82D261827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🔥 Best Clash Royale Mega Knight Decks &amp; How to Counter It!">
            <a:extLst>
              <a:ext uri="{FF2B5EF4-FFF2-40B4-BE49-F238E27FC236}">
                <a16:creationId xmlns:a16="http://schemas.microsoft.com/office/drawing/2014/main" id="{6D1B3CF3-965F-CAD3-E087-2817F677AE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54" r="5706"/>
          <a:stretch>
            <a:fillRect/>
          </a:stretch>
        </p:blipFill>
        <p:spPr bwMode="auto">
          <a:xfrm>
            <a:off x="0" y="7335"/>
            <a:ext cx="8989996" cy="6850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B953B22-F6D4-5531-D1CD-D2F7E2F6E5C9}"/>
              </a:ext>
            </a:extLst>
          </p:cNvPr>
          <p:cNvSpPr/>
          <p:nvPr/>
        </p:nvSpPr>
        <p:spPr>
          <a:xfrm>
            <a:off x="1" y="7335"/>
            <a:ext cx="12179166" cy="6850665"/>
          </a:xfrm>
          <a:prstGeom prst="rect">
            <a:avLst/>
          </a:prstGeom>
          <a:gradFill>
            <a:gsLst>
              <a:gs pos="0">
                <a:schemeClr val="bg1"/>
              </a:gs>
              <a:gs pos="34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61293C-C5F7-921B-7B93-9ED065724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8904" y="2655938"/>
            <a:ext cx="4888832" cy="1325563"/>
          </a:xfrm>
        </p:spPr>
        <p:txBody>
          <a:bodyPr>
            <a:normAutofit fontScale="90000"/>
          </a:bodyPr>
          <a:lstStyle/>
          <a:p>
            <a:r>
              <a:rPr lang="en-US" sz="6000" dirty="0"/>
              <a:t>Case Study: Mega Knight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88C91DD-6AF2-D1A7-DAF1-B22C8A20D40A}"/>
              </a:ext>
            </a:extLst>
          </p:cNvPr>
          <p:cNvSpPr txBox="1">
            <a:spLocks/>
          </p:cNvSpPr>
          <p:nvPr/>
        </p:nvSpPr>
        <p:spPr>
          <a:xfrm>
            <a:off x="469248" y="-1821465"/>
            <a:ext cx="5386804" cy="15691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dirty="0"/>
              <a:t>Usage Rates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76AB17-B3DC-305D-1A7A-1D6E585B4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501319" y="1455023"/>
            <a:ext cx="5052955" cy="5052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185380"/>
      </p:ext>
    </p:extLst>
  </p:cSld>
  <p:clrMapOvr>
    <a:masterClrMapping/>
  </p:clrMapOvr>
  <p:transition spd="slow">
    <p:push dir="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17BA3-29C2-97A9-DF4E-CD322E060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🔥 Best Clash Royale Mega Knight Decks &amp; How to Counter It!">
            <a:extLst>
              <a:ext uri="{FF2B5EF4-FFF2-40B4-BE49-F238E27FC236}">
                <a16:creationId xmlns:a16="http://schemas.microsoft.com/office/drawing/2014/main" id="{BEEC56C8-FF19-70E3-77D0-0B0455CB1B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54" r="5706"/>
          <a:stretch>
            <a:fillRect/>
          </a:stretch>
        </p:blipFill>
        <p:spPr bwMode="auto">
          <a:xfrm>
            <a:off x="0" y="7335"/>
            <a:ext cx="8989996" cy="6850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7D54380-E59B-3C4D-022A-46F1D172F017}"/>
              </a:ext>
            </a:extLst>
          </p:cNvPr>
          <p:cNvSpPr/>
          <p:nvPr/>
        </p:nvSpPr>
        <p:spPr>
          <a:xfrm>
            <a:off x="-683394" y="0"/>
            <a:ext cx="12875393" cy="685066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DB5F0D-CE31-6194-8016-4C542C0FF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8271641">
            <a:off x="12276700" y="4076176"/>
            <a:ext cx="4888832" cy="1325563"/>
          </a:xfrm>
        </p:spPr>
        <p:txBody>
          <a:bodyPr>
            <a:normAutofit fontScale="90000"/>
          </a:bodyPr>
          <a:lstStyle/>
          <a:p>
            <a:r>
              <a:rPr lang="en-US" sz="6000" dirty="0"/>
              <a:t>Case Study: Mega Knight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F9C8733-73E8-77A7-606E-12991A382782}"/>
              </a:ext>
            </a:extLst>
          </p:cNvPr>
          <p:cNvSpPr txBox="1">
            <a:spLocks/>
          </p:cNvSpPr>
          <p:nvPr/>
        </p:nvSpPr>
        <p:spPr>
          <a:xfrm>
            <a:off x="449792" y="7335"/>
            <a:ext cx="5386804" cy="15691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dirty="0"/>
              <a:t>Usage Rates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B3C0CF-E330-DB8B-587C-D1DC4618BB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73" y="1342980"/>
            <a:ext cx="5052955" cy="505295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99EEAD8F-6C33-0769-3E9E-80BD48C91F71}"/>
              </a:ext>
            </a:extLst>
          </p:cNvPr>
          <p:cNvSpPr txBox="1">
            <a:spLocks/>
          </p:cNvSpPr>
          <p:nvPr/>
        </p:nvSpPr>
        <p:spPr>
          <a:xfrm>
            <a:off x="6446675" y="1576444"/>
            <a:ext cx="5386804" cy="43815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Starts around 2500 trophies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Then rises to about 25% usage rates at 7500 trophies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8934692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EFA1F5-DD51-4186-B5B0-E132C7103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2C8E600-C109-A06F-A63A-7D0F89397FE2}"/>
              </a:ext>
            </a:extLst>
          </p:cNvPr>
          <p:cNvSpPr txBox="1">
            <a:spLocks/>
          </p:cNvSpPr>
          <p:nvPr/>
        </p:nvSpPr>
        <p:spPr>
          <a:xfrm>
            <a:off x="630936" y="640823"/>
            <a:ext cx="3419856" cy="5583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Win Rates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267200" y="630936"/>
            <a:ext cx="18288" cy="5590381"/>
          </a:xfrm>
          <a:custGeom>
            <a:avLst/>
            <a:gdLst>
              <a:gd name="connsiteX0" fmla="*/ 0 w 18288"/>
              <a:gd name="connsiteY0" fmla="*/ 0 h 5590381"/>
              <a:gd name="connsiteX1" fmla="*/ 18288 w 18288"/>
              <a:gd name="connsiteY1" fmla="*/ 0 h 5590381"/>
              <a:gd name="connsiteX2" fmla="*/ 18288 w 18288"/>
              <a:gd name="connsiteY2" fmla="*/ 754701 h 5590381"/>
              <a:gd name="connsiteX3" fmla="*/ 18288 w 18288"/>
              <a:gd name="connsiteY3" fmla="*/ 1565307 h 5590381"/>
              <a:gd name="connsiteX4" fmla="*/ 18288 w 18288"/>
              <a:gd name="connsiteY4" fmla="*/ 2152297 h 5590381"/>
              <a:gd name="connsiteX5" fmla="*/ 18288 w 18288"/>
              <a:gd name="connsiteY5" fmla="*/ 2906998 h 5590381"/>
              <a:gd name="connsiteX6" fmla="*/ 18288 w 18288"/>
              <a:gd name="connsiteY6" fmla="*/ 3549892 h 5590381"/>
              <a:gd name="connsiteX7" fmla="*/ 18288 w 18288"/>
              <a:gd name="connsiteY7" fmla="*/ 4080978 h 5590381"/>
              <a:gd name="connsiteX8" fmla="*/ 18288 w 18288"/>
              <a:gd name="connsiteY8" fmla="*/ 4835680 h 5590381"/>
              <a:gd name="connsiteX9" fmla="*/ 18288 w 18288"/>
              <a:gd name="connsiteY9" fmla="*/ 5590381 h 5590381"/>
              <a:gd name="connsiteX10" fmla="*/ 0 w 18288"/>
              <a:gd name="connsiteY10" fmla="*/ 5590381 h 5590381"/>
              <a:gd name="connsiteX11" fmla="*/ 0 w 18288"/>
              <a:gd name="connsiteY11" fmla="*/ 4835680 h 5590381"/>
              <a:gd name="connsiteX12" fmla="*/ 0 w 18288"/>
              <a:gd name="connsiteY12" fmla="*/ 4304593 h 5590381"/>
              <a:gd name="connsiteX13" fmla="*/ 0 w 18288"/>
              <a:gd name="connsiteY13" fmla="*/ 3773507 h 5590381"/>
              <a:gd name="connsiteX14" fmla="*/ 0 w 18288"/>
              <a:gd name="connsiteY14" fmla="*/ 3186517 h 5590381"/>
              <a:gd name="connsiteX15" fmla="*/ 0 w 18288"/>
              <a:gd name="connsiteY15" fmla="*/ 2487720 h 5590381"/>
              <a:gd name="connsiteX16" fmla="*/ 0 w 18288"/>
              <a:gd name="connsiteY16" fmla="*/ 1956633 h 5590381"/>
              <a:gd name="connsiteX17" fmla="*/ 0 w 18288"/>
              <a:gd name="connsiteY17" fmla="*/ 1425547 h 5590381"/>
              <a:gd name="connsiteX18" fmla="*/ 0 w 18288"/>
              <a:gd name="connsiteY18" fmla="*/ 614942 h 5590381"/>
              <a:gd name="connsiteX19" fmla="*/ 0 w 18288"/>
              <a:gd name="connsiteY19" fmla="*/ 0 h 559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8288" h="5590381" fill="none" extrusionOk="0">
                <a:moveTo>
                  <a:pt x="0" y="0"/>
                </a:moveTo>
                <a:cubicBezTo>
                  <a:pt x="7726" y="-435"/>
                  <a:pt x="14198" y="437"/>
                  <a:pt x="18288" y="0"/>
                </a:cubicBezTo>
                <a:cubicBezTo>
                  <a:pt x="-5226" y="225076"/>
                  <a:pt x="46275" y="562283"/>
                  <a:pt x="18288" y="754701"/>
                </a:cubicBezTo>
                <a:cubicBezTo>
                  <a:pt x="-9699" y="947119"/>
                  <a:pt x="30081" y="1239251"/>
                  <a:pt x="18288" y="1565307"/>
                </a:cubicBezTo>
                <a:cubicBezTo>
                  <a:pt x="6495" y="1891363"/>
                  <a:pt x="7160" y="1999140"/>
                  <a:pt x="18288" y="2152297"/>
                </a:cubicBezTo>
                <a:cubicBezTo>
                  <a:pt x="29417" y="2305454"/>
                  <a:pt x="28705" y="2598333"/>
                  <a:pt x="18288" y="2906998"/>
                </a:cubicBezTo>
                <a:cubicBezTo>
                  <a:pt x="7871" y="3215663"/>
                  <a:pt x="35263" y="3327412"/>
                  <a:pt x="18288" y="3549892"/>
                </a:cubicBezTo>
                <a:cubicBezTo>
                  <a:pt x="1313" y="3772372"/>
                  <a:pt x="38561" y="3843836"/>
                  <a:pt x="18288" y="4080978"/>
                </a:cubicBezTo>
                <a:cubicBezTo>
                  <a:pt x="-1985" y="4318120"/>
                  <a:pt x="-3806" y="4511166"/>
                  <a:pt x="18288" y="4835680"/>
                </a:cubicBezTo>
                <a:cubicBezTo>
                  <a:pt x="40382" y="5160194"/>
                  <a:pt x="-13070" y="5401748"/>
                  <a:pt x="18288" y="5590381"/>
                </a:cubicBezTo>
                <a:cubicBezTo>
                  <a:pt x="12010" y="5589863"/>
                  <a:pt x="6799" y="5589982"/>
                  <a:pt x="0" y="5590381"/>
                </a:cubicBezTo>
                <a:cubicBezTo>
                  <a:pt x="-6480" y="5250523"/>
                  <a:pt x="-32148" y="5052531"/>
                  <a:pt x="0" y="4835680"/>
                </a:cubicBezTo>
                <a:cubicBezTo>
                  <a:pt x="32148" y="4618829"/>
                  <a:pt x="5352" y="4496374"/>
                  <a:pt x="0" y="4304593"/>
                </a:cubicBezTo>
                <a:cubicBezTo>
                  <a:pt x="-5352" y="4112812"/>
                  <a:pt x="9645" y="3919423"/>
                  <a:pt x="0" y="3773507"/>
                </a:cubicBezTo>
                <a:cubicBezTo>
                  <a:pt x="-9645" y="3627591"/>
                  <a:pt x="-10654" y="3330687"/>
                  <a:pt x="0" y="3186517"/>
                </a:cubicBezTo>
                <a:cubicBezTo>
                  <a:pt x="10654" y="3042347"/>
                  <a:pt x="18181" y="2635923"/>
                  <a:pt x="0" y="2487720"/>
                </a:cubicBezTo>
                <a:cubicBezTo>
                  <a:pt x="-18181" y="2339517"/>
                  <a:pt x="-7947" y="2113537"/>
                  <a:pt x="0" y="1956633"/>
                </a:cubicBezTo>
                <a:cubicBezTo>
                  <a:pt x="7947" y="1799729"/>
                  <a:pt x="-15145" y="1657735"/>
                  <a:pt x="0" y="1425547"/>
                </a:cubicBezTo>
                <a:cubicBezTo>
                  <a:pt x="15145" y="1193359"/>
                  <a:pt x="-23832" y="948054"/>
                  <a:pt x="0" y="614942"/>
                </a:cubicBezTo>
                <a:cubicBezTo>
                  <a:pt x="23832" y="281831"/>
                  <a:pt x="2816" y="129878"/>
                  <a:pt x="0" y="0"/>
                </a:cubicBezTo>
                <a:close/>
              </a:path>
              <a:path w="18288" h="5590381" stroke="0" extrusionOk="0">
                <a:moveTo>
                  <a:pt x="0" y="0"/>
                </a:moveTo>
                <a:cubicBezTo>
                  <a:pt x="5871" y="848"/>
                  <a:pt x="11713" y="-200"/>
                  <a:pt x="18288" y="0"/>
                </a:cubicBezTo>
                <a:cubicBezTo>
                  <a:pt x="41141" y="165299"/>
                  <a:pt x="3613" y="427555"/>
                  <a:pt x="18288" y="698798"/>
                </a:cubicBezTo>
                <a:cubicBezTo>
                  <a:pt x="32963" y="970041"/>
                  <a:pt x="19680" y="1226199"/>
                  <a:pt x="18288" y="1397595"/>
                </a:cubicBezTo>
                <a:cubicBezTo>
                  <a:pt x="16896" y="1568991"/>
                  <a:pt x="38798" y="1794517"/>
                  <a:pt x="18288" y="2152297"/>
                </a:cubicBezTo>
                <a:cubicBezTo>
                  <a:pt x="-2222" y="2510077"/>
                  <a:pt x="40846" y="2594424"/>
                  <a:pt x="18288" y="2739287"/>
                </a:cubicBezTo>
                <a:cubicBezTo>
                  <a:pt x="-4270" y="2884150"/>
                  <a:pt x="27117" y="3129706"/>
                  <a:pt x="18288" y="3493988"/>
                </a:cubicBezTo>
                <a:cubicBezTo>
                  <a:pt x="9459" y="3858270"/>
                  <a:pt x="54201" y="4041447"/>
                  <a:pt x="18288" y="4304593"/>
                </a:cubicBezTo>
                <a:cubicBezTo>
                  <a:pt x="-17625" y="4567740"/>
                  <a:pt x="49627" y="5149125"/>
                  <a:pt x="18288" y="5590381"/>
                </a:cubicBezTo>
                <a:cubicBezTo>
                  <a:pt x="10860" y="5590744"/>
                  <a:pt x="7568" y="5590157"/>
                  <a:pt x="0" y="5590381"/>
                </a:cubicBezTo>
                <a:cubicBezTo>
                  <a:pt x="36767" y="5266821"/>
                  <a:pt x="-16223" y="5116146"/>
                  <a:pt x="0" y="4835680"/>
                </a:cubicBezTo>
                <a:cubicBezTo>
                  <a:pt x="16223" y="4555214"/>
                  <a:pt x="-16316" y="4356490"/>
                  <a:pt x="0" y="4136882"/>
                </a:cubicBezTo>
                <a:cubicBezTo>
                  <a:pt x="16316" y="3917274"/>
                  <a:pt x="8005" y="3773465"/>
                  <a:pt x="0" y="3549892"/>
                </a:cubicBezTo>
                <a:cubicBezTo>
                  <a:pt x="-8005" y="3326319"/>
                  <a:pt x="27623" y="3052456"/>
                  <a:pt x="0" y="2851094"/>
                </a:cubicBezTo>
                <a:cubicBezTo>
                  <a:pt x="-27623" y="2649732"/>
                  <a:pt x="5614" y="2455815"/>
                  <a:pt x="0" y="2264104"/>
                </a:cubicBezTo>
                <a:cubicBezTo>
                  <a:pt x="-5614" y="2072393"/>
                  <a:pt x="22598" y="1990723"/>
                  <a:pt x="0" y="1733018"/>
                </a:cubicBezTo>
                <a:cubicBezTo>
                  <a:pt x="-22598" y="1475313"/>
                  <a:pt x="-6965" y="1369123"/>
                  <a:pt x="0" y="1090124"/>
                </a:cubicBezTo>
                <a:cubicBezTo>
                  <a:pt x="6965" y="811125"/>
                  <a:pt x="-19273" y="507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311409761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FE1BE6C-B74D-FA83-7A88-6123AA87D08E}"/>
              </a:ext>
            </a:extLst>
          </p:cNvPr>
          <p:cNvSpPr txBox="1">
            <a:spLocks/>
          </p:cNvSpPr>
          <p:nvPr/>
        </p:nvSpPr>
        <p:spPr>
          <a:xfrm>
            <a:off x="4654296" y="4798577"/>
            <a:ext cx="6894576" cy="142848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dirty="0">
                <a:latin typeface="+mn-lt"/>
                <a:ea typeface="+mn-ea"/>
                <a:cs typeface="+mn-cs"/>
              </a:rPr>
              <a:t>Mega Knight players have a significantly larger win rate compared to non-Mega-Knight users in Mid Ladder</a:t>
            </a:r>
          </a:p>
          <a:p>
            <a:pPr marL="57150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3200" dirty="0"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18EC87AA-C63D-2BF0-9AC4-85220ADCAB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1175643"/>
              </p:ext>
            </p:extLst>
          </p:nvPr>
        </p:nvGraphicFramePr>
        <p:xfrm>
          <a:off x="4890093" y="630936"/>
          <a:ext cx="6422982" cy="3913641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31374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55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010">
                <a:tc>
                  <a:txBody>
                    <a:bodyPr/>
                    <a:lstStyle/>
                    <a:p>
                      <a:pPr>
                        <a:defRPr sz="2000" b="1"/>
                      </a:pPr>
                      <a:r>
                        <a:rPr lang="en-US" sz="1500"/>
                        <a:t>Statistic</a:t>
                      </a:r>
                    </a:p>
                  </a:txBody>
                  <a:tcPr marL="69720" marR="69720" marT="34860" marB="34860"/>
                </a:tc>
                <a:tc>
                  <a:txBody>
                    <a:bodyPr/>
                    <a:lstStyle/>
                    <a:p>
                      <a:pPr>
                        <a:defRPr sz="2000" b="1"/>
                      </a:pPr>
                      <a:r>
                        <a:rPr lang="en-US" sz="1500"/>
                        <a:t>Value</a:t>
                      </a:r>
                    </a:p>
                  </a:txBody>
                  <a:tcPr marL="69720" marR="69720" marT="34860" marB="3486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77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lang="en-US" sz="1400"/>
                        <a:t>Test Performed</a:t>
                      </a:r>
                    </a:p>
                  </a:txBody>
                  <a:tcPr marL="69720" marR="69720" marT="34860" marB="34860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lang="en-US" sz="1400"/>
                        <a:t>Welch Two Sample t-test</a:t>
                      </a:r>
                    </a:p>
                  </a:txBody>
                  <a:tcPr marL="69720" marR="69720" marT="34860" marB="3486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77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lang="en-US" sz="1400" dirty="0"/>
                        <a:t>Data (Group x)</a:t>
                      </a:r>
                    </a:p>
                  </a:txBody>
                  <a:tcPr marL="69720" marR="69720" marT="34860" marB="34860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lang="en-US" sz="1400"/>
                        <a:t>Player Win Rate (with Mega Knight)</a:t>
                      </a:r>
                    </a:p>
                  </a:txBody>
                  <a:tcPr marL="69720" marR="69720" marT="34860" marB="3486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77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lang="en-US" sz="1400"/>
                        <a:t>Data (Group y)</a:t>
                      </a:r>
                    </a:p>
                  </a:txBody>
                  <a:tcPr marL="69720" marR="69720" marT="34860" marB="34860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lang="en-US" sz="1400" dirty="0"/>
                        <a:t>Player Win Rate (without Mega Knight)</a:t>
                      </a:r>
                    </a:p>
                  </a:txBody>
                  <a:tcPr marL="69720" marR="69720" marT="34860" marB="3486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77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lang="en-US" sz="1400"/>
                        <a:t>Trophy Range</a:t>
                      </a:r>
                    </a:p>
                  </a:txBody>
                  <a:tcPr marL="69720" marR="69720" marT="34860" marB="34860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lang="en-US" sz="1400"/>
                        <a:t>6000 to 8000</a:t>
                      </a:r>
                    </a:p>
                  </a:txBody>
                  <a:tcPr marL="69720" marR="69720" marT="34860" marB="3486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77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lang="en-US" sz="1400"/>
                        <a:t>t-statistic (t)</a:t>
                      </a:r>
                    </a:p>
                  </a:txBody>
                  <a:tcPr marL="69720" marR="69720" marT="34860" marB="34860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lang="en-US" sz="1400"/>
                        <a:t>10.646</a:t>
                      </a:r>
                    </a:p>
                  </a:txBody>
                  <a:tcPr marL="69720" marR="69720" marT="34860" marB="3486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77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lang="en-US" sz="1400"/>
                        <a:t>Degrees of Freedom (df)</a:t>
                      </a:r>
                    </a:p>
                  </a:txBody>
                  <a:tcPr marL="69720" marR="69720" marT="34860" marB="34860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lang="en-US" sz="1400"/>
                        <a:t>1504.3</a:t>
                      </a:r>
                    </a:p>
                  </a:txBody>
                  <a:tcPr marL="69720" marR="69720" marT="34860" marB="3486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77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lang="en-US" sz="1400"/>
                        <a:t>p-value (p)</a:t>
                      </a:r>
                    </a:p>
                  </a:txBody>
                  <a:tcPr marL="69720" marR="69720" marT="34860" marB="34860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lang="en-US" sz="1400"/>
                        <a:t>&lt;2.2×10−16</a:t>
                      </a:r>
                    </a:p>
                  </a:txBody>
                  <a:tcPr marL="69720" marR="69720" marT="34860" marB="3486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5931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lang="en-US" sz="1400"/>
                        <a:t>Alternative Hypothesis</a:t>
                      </a:r>
                    </a:p>
                  </a:txBody>
                  <a:tcPr marL="69720" marR="69720" marT="34860" marB="34860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lang="en-US" sz="1400" dirty="0"/>
                        <a:t>True difference in means is not equal to 0</a:t>
                      </a:r>
                    </a:p>
                  </a:txBody>
                  <a:tcPr marL="69720" marR="69720" marT="34860" marB="3486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677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lang="en-US" sz="1400"/>
                        <a:t>95% Confidence Interval</a:t>
                      </a:r>
                    </a:p>
                  </a:txBody>
                  <a:tcPr marL="69720" marR="69720" marT="34860" marB="34860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lang="en-US" sz="1400"/>
                        <a:t>[0.03099, 0.04499]</a:t>
                      </a:r>
                    </a:p>
                  </a:txBody>
                  <a:tcPr marL="69720" marR="69720" marT="34860" marB="3486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677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lang="en-US" sz="1400"/>
                        <a:t>Mean of Group x (xˉ)</a:t>
                      </a:r>
                    </a:p>
                  </a:txBody>
                  <a:tcPr marL="69720" marR="69720" marT="34860" marB="34860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lang="en-US" sz="1400"/>
                        <a:t>0.56268</a:t>
                      </a:r>
                    </a:p>
                  </a:txBody>
                  <a:tcPr marL="69720" marR="69720" marT="34860" marB="3486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677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lang="en-US" sz="1400"/>
                        <a:t>Mean of Group y (yˉ)</a:t>
                      </a:r>
                    </a:p>
                  </a:txBody>
                  <a:tcPr marL="69720" marR="69720" marT="34860" marB="34860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lang="en-US" sz="1400" dirty="0"/>
                        <a:t>0.52469</a:t>
                      </a:r>
                    </a:p>
                  </a:txBody>
                  <a:tcPr marL="69720" marR="69720" marT="34860" marB="3486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4269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52F21-3287-BBA2-AA8C-F42FACE1A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Case Study: Giant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5CFE2D-286B-34B1-0897-EDCC991B400A}"/>
              </a:ext>
            </a:extLst>
          </p:cNvPr>
          <p:cNvSpPr txBox="1"/>
          <p:nvPr/>
        </p:nvSpPr>
        <p:spPr>
          <a:xfrm>
            <a:off x="420624" y="1476325"/>
            <a:ext cx="30632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LOWEST win rate card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F04923-D586-9FA2-F979-C72F44F6D2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2144" y="1476325"/>
            <a:ext cx="6809232" cy="5106924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C382326B-5D45-266D-5C69-1BE8C76B042F}"/>
              </a:ext>
            </a:extLst>
          </p:cNvPr>
          <p:cNvSpPr/>
          <p:nvPr/>
        </p:nvSpPr>
        <p:spPr>
          <a:xfrm>
            <a:off x="2926080" y="4775669"/>
            <a:ext cx="1920240" cy="1212011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9791E1-0EB4-B9A0-1758-93A45CF27B21}"/>
              </a:ext>
            </a:extLst>
          </p:cNvPr>
          <p:cNvSpPr txBox="1"/>
          <p:nvPr/>
        </p:nvSpPr>
        <p:spPr>
          <a:xfrm>
            <a:off x="502920" y="4553883"/>
            <a:ext cx="242316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Win Trading Bots!!!</a:t>
            </a:r>
          </a:p>
        </p:txBody>
      </p:sp>
    </p:spTree>
    <p:extLst>
      <p:ext uri="{BB962C8B-B14F-4D97-AF65-F5344CB8AC3E}">
        <p14:creationId xmlns:p14="http://schemas.microsoft.com/office/powerpoint/2010/main" val="3864999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EA6D7-A7C2-EF72-465B-7E0A290BC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9CD50-F731-9F8F-552C-A3991ECFE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Regression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D2280C-7308-6407-7D99-155D721134D0}"/>
              </a:ext>
            </a:extLst>
          </p:cNvPr>
          <p:cNvSpPr txBox="1"/>
          <p:nvPr/>
        </p:nvSpPr>
        <p:spPr>
          <a:xfrm>
            <a:off x="770021" y="1597793"/>
            <a:ext cx="1096153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One Categorical Variable per card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Around 200 variables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No interaction terms, couldn’t get them to work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Too many decks</a:t>
            </a:r>
            <a:br>
              <a:rPr lang="en-US" sz="4000" dirty="0"/>
            </a:br>
            <a:r>
              <a:rPr lang="en-US" sz="4000" dirty="0"/>
              <a:t>in mid ladder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C80E6D3-3AB0-9179-D636-FEA0A36DA4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2284" y="3490619"/>
            <a:ext cx="6369026" cy="3264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503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0B163-FF47-7A34-30C6-49368E2CF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34203-23CC-6FB0-4957-10DD3B125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Diagnostic Plots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01F256F-6F48-377F-B48D-41651C9F5779}"/>
              </a:ext>
            </a:extLst>
          </p:cNvPr>
          <p:cNvGrpSpPr/>
          <p:nvPr/>
        </p:nvGrpSpPr>
        <p:grpSpPr>
          <a:xfrm>
            <a:off x="13185806" y="-2703497"/>
            <a:ext cx="12264994" cy="12264994"/>
            <a:chOff x="3406806" y="1806606"/>
            <a:chExt cx="4514787" cy="4514787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90A47D3E-FD49-E864-6288-59ACE448A301}"/>
                </a:ext>
              </a:extLst>
            </p:cNvPr>
            <p:cNvGrpSpPr/>
            <p:nvPr/>
          </p:nvGrpSpPr>
          <p:grpSpPr>
            <a:xfrm>
              <a:off x="3406806" y="1806606"/>
              <a:ext cx="4514787" cy="4514787"/>
              <a:chOff x="3406806" y="1806606"/>
              <a:chExt cx="4514787" cy="4514787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8FB552FF-D864-DC9E-4A0C-10A9617E114A}"/>
                  </a:ext>
                </a:extLst>
              </p:cNvPr>
              <p:cNvGrpSpPr/>
              <p:nvPr/>
            </p:nvGrpSpPr>
            <p:grpSpPr>
              <a:xfrm rot="18792761">
                <a:off x="3406806" y="1806606"/>
                <a:ext cx="4514787" cy="4514787"/>
                <a:chOff x="3406806" y="1806606"/>
                <a:chExt cx="4514787" cy="4514787"/>
              </a:xfrm>
            </p:grpSpPr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468AE20F-5F63-812B-6B44-858A201A548A}"/>
                    </a:ext>
                  </a:extLst>
                </p:cNvPr>
                <p:cNvSpPr/>
                <p:nvPr/>
              </p:nvSpPr>
              <p:spPr>
                <a:xfrm rot="5400000">
                  <a:off x="3406806" y="1806606"/>
                  <a:ext cx="2193894" cy="2193894"/>
                </a:xfrm>
                <a:custGeom>
                  <a:avLst/>
                  <a:gdLst>
                    <a:gd name="connsiteX0" fmla="*/ 0 w 2193894"/>
                    <a:gd name="connsiteY0" fmla="*/ 0 h 2193894"/>
                    <a:gd name="connsiteX1" fmla="*/ 2193894 w 2193894"/>
                    <a:gd name="connsiteY1" fmla="*/ 0 h 2193894"/>
                    <a:gd name="connsiteX2" fmla="*/ 2193894 w 2193894"/>
                    <a:gd name="connsiteY2" fmla="*/ 2193894 h 2193894"/>
                    <a:gd name="connsiteX3" fmla="*/ 2026261 w 2193894"/>
                    <a:gd name="connsiteY3" fmla="*/ 2185429 h 2193894"/>
                    <a:gd name="connsiteX4" fmla="*/ 8465 w 2193894"/>
                    <a:gd name="connsiteY4" fmla="*/ 167633 h 2193894"/>
                    <a:gd name="connsiteX5" fmla="*/ 0 w 2193894"/>
                    <a:gd name="connsiteY5" fmla="*/ 0 h 21938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193894" h="2193894">
                      <a:moveTo>
                        <a:pt x="0" y="0"/>
                      </a:moveTo>
                      <a:lnTo>
                        <a:pt x="2193894" y="0"/>
                      </a:lnTo>
                      <a:lnTo>
                        <a:pt x="2193894" y="2193894"/>
                      </a:lnTo>
                      <a:lnTo>
                        <a:pt x="2026261" y="2185429"/>
                      </a:lnTo>
                      <a:cubicBezTo>
                        <a:pt x="962334" y="2077381"/>
                        <a:pt x="116513" y="1231560"/>
                        <a:pt x="8465" y="167633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tx2">
                    <a:lumMod val="2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C4998785-EA9F-88D5-6FD2-2EA53F31C5D9}"/>
                    </a:ext>
                  </a:extLst>
                </p:cNvPr>
                <p:cNvSpPr/>
                <p:nvPr/>
              </p:nvSpPr>
              <p:spPr>
                <a:xfrm rot="5400000">
                  <a:off x="5727699" y="1806607"/>
                  <a:ext cx="2193894" cy="2193893"/>
                </a:xfrm>
                <a:custGeom>
                  <a:avLst/>
                  <a:gdLst>
                    <a:gd name="connsiteX0" fmla="*/ 0 w 2193894"/>
                    <a:gd name="connsiteY0" fmla="*/ 2193893 h 2193893"/>
                    <a:gd name="connsiteX1" fmla="*/ 8465 w 2193894"/>
                    <a:gd name="connsiteY1" fmla="*/ 2026260 h 2193893"/>
                    <a:gd name="connsiteX2" fmla="*/ 2026261 w 2193894"/>
                    <a:gd name="connsiteY2" fmla="*/ 8464 h 2193893"/>
                    <a:gd name="connsiteX3" fmla="*/ 2193894 w 2193894"/>
                    <a:gd name="connsiteY3" fmla="*/ 0 h 2193893"/>
                    <a:gd name="connsiteX4" fmla="*/ 2193894 w 2193894"/>
                    <a:gd name="connsiteY4" fmla="*/ 2193893 h 2193893"/>
                    <a:gd name="connsiteX5" fmla="*/ 0 w 2193894"/>
                    <a:gd name="connsiteY5" fmla="*/ 2193893 h 21938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193894" h="2193893">
                      <a:moveTo>
                        <a:pt x="0" y="2193893"/>
                      </a:moveTo>
                      <a:lnTo>
                        <a:pt x="8465" y="2026260"/>
                      </a:lnTo>
                      <a:cubicBezTo>
                        <a:pt x="116513" y="962333"/>
                        <a:pt x="962334" y="116512"/>
                        <a:pt x="2026261" y="8464"/>
                      </a:cubicBezTo>
                      <a:lnTo>
                        <a:pt x="2193894" y="0"/>
                      </a:lnTo>
                      <a:lnTo>
                        <a:pt x="2193894" y="2193893"/>
                      </a:lnTo>
                      <a:lnTo>
                        <a:pt x="0" y="2193893"/>
                      </a:lnTo>
                      <a:close/>
                    </a:path>
                  </a:pathLst>
                </a:custGeom>
                <a:solidFill>
                  <a:schemeClr val="tx2">
                    <a:lumMod val="2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1555879B-74DC-D61F-19BB-B7793CA0EC70}"/>
                    </a:ext>
                  </a:extLst>
                </p:cNvPr>
                <p:cNvSpPr/>
                <p:nvPr/>
              </p:nvSpPr>
              <p:spPr>
                <a:xfrm rot="5400000">
                  <a:off x="3406807" y="4127499"/>
                  <a:ext cx="2193893" cy="2193894"/>
                </a:xfrm>
                <a:custGeom>
                  <a:avLst/>
                  <a:gdLst>
                    <a:gd name="connsiteX0" fmla="*/ 0 w 2193893"/>
                    <a:gd name="connsiteY0" fmla="*/ 2193894 h 2193894"/>
                    <a:gd name="connsiteX1" fmla="*/ 0 w 2193893"/>
                    <a:gd name="connsiteY1" fmla="*/ 0 h 2193894"/>
                    <a:gd name="connsiteX2" fmla="*/ 2193893 w 2193893"/>
                    <a:gd name="connsiteY2" fmla="*/ 0 h 2193894"/>
                    <a:gd name="connsiteX3" fmla="*/ 2185429 w 2193893"/>
                    <a:gd name="connsiteY3" fmla="*/ 167633 h 2193894"/>
                    <a:gd name="connsiteX4" fmla="*/ 167633 w 2193893"/>
                    <a:gd name="connsiteY4" fmla="*/ 2185429 h 2193894"/>
                    <a:gd name="connsiteX5" fmla="*/ 0 w 2193893"/>
                    <a:gd name="connsiteY5" fmla="*/ 2193894 h 21938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193893" h="2193894">
                      <a:moveTo>
                        <a:pt x="0" y="2193894"/>
                      </a:moveTo>
                      <a:lnTo>
                        <a:pt x="0" y="0"/>
                      </a:lnTo>
                      <a:lnTo>
                        <a:pt x="2193893" y="0"/>
                      </a:lnTo>
                      <a:lnTo>
                        <a:pt x="2185429" y="167633"/>
                      </a:lnTo>
                      <a:cubicBezTo>
                        <a:pt x="2077381" y="1231560"/>
                        <a:pt x="1231560" y="2077381"/>
                        <a:pt x="167633" y="2185429"/>
                      </a:cubicBezTo>
                      <a:lnTo>
                        <a:pt x="0" y="2193894"/>
                      </a:lnTo>
                      <a:close/>
                    </a:path>
                  </a:pathLst>
                </a:custGeom>
                <a:solidFill>
                  <a:schemeClr val="tx2">
                    <a:lumMod val="2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Freeform: Shape 9">
                  <a:extLst>
                    <a:ext uri="{FF2B5EF4-FFF2-40B4-BE49-F238E27FC236}">
                      <a16:creationId xmlns:a16="http://schemas.microsoft.com/office/drawing/2014/main" id="{D8B2F62C-2934-CAA0-DD2F-4C73AFF892E1}"/>
                    </a:ext>
                  </a:extLst>
                </p:cNvPr>
                <p:cNvSpPr/>
                <p:nvPr/>
              </p:nvSpPr>
              <p:spPr>
                <a:xfrm rot="5400000">
                  <a:off x="5727700" y="4127500"/>
                  <a:ext cx="2193893" cy="2193893"/>
                </a:xfrm>
                <a:custGeom>
                  <a:avLst/>
                  <a:gdLst>
                    <a:gd name="connsiteX0" fmla="*/ 0 w 2193893"/>
                    <a:gd name="connsiteY0" fmla="*/ 2193893 h 2193893"/>
                    <a:gd name="connsiteX1" fmla="*/ 0 w 2193893"/>
                    <a:gd name="connsiteY1" fmla="*/ 0 h 2193893"/>
                    <a:gd name="connsiteX2" fmla="*/ 167633 w 2193893"/>
                    <a:gd name="connsiteY2" fmla="*/ 8464 h 2193893"/>
                    <a:gd name="connsiteX3" fmla="*/ 2185429 w 2193893"/>
                    <a:gd name="connsiteY3" fmla="*/ 2026260 h 2193893"/>
                    <a:gd name="connsiteX4" fmla="*/ 2193893 w 2193893"/>
                    <a:gd name="connsiteY4" fmla="*/ 2193893 h 2193893"/>
                    <a:gd name="connsiteX5" fmla="*/ 0 w 2193893"/>
                    <a:gd name="connsiteY5" fmla="*/ 2193893 h 21938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193893" h="2193893">
                      <a:moveTo>
                        <a:pt x="0" y="2193893"/>
                      </a:moveTo>
                      <a:lnTo>
                        <a:pt x="0" y="0"/>
                      </a:lnTo>
                      <a:lnTo>
                        <a:pt x="167633" y="8464"/>
                      </a:lnTo>
                      <a:cubicBezTo>
                        <a:pt x="1231560" y="116512"/>
                        <a:pt x="2077381" y="962333"/>
                        <a:pt x="2185429" y="2026260"/>
                      </a:cubicBezTo>
                      <a:lnTo>
                        <a:pt x="2193893" y="2193893"/>
                      </a:lnTo>
                      <a:lnTo>
                        <a:pt x="0" y="2193893"/>
                      </a:lnTo>
                      <a:close/>
                    </a:path>
                  </a:pathLst>
                </a:custGeom>
                <a:solidFill>
                  <a:schemeClr val="tx2">
                    <a:lumMod val="2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24" name="Picture 23">
                  <a:extLst>
                    <a:ext uri="{FF2B5EF4-FFF2-40B4-BE49-F238E27FC236}">
                      <a16:creationId xmlns:a16="http://schemas.microsoft.com/office/drawing/2014/main" id="{D61887B1-A096-583C-4C27-B43FEEE6B8D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2807239">
                  <a:off x="3984701" y="2434329"/>
                  <a:ext cx="1296181" cy="1195507"/>
                </a:xfrm>
                <a:prstGeom prst="rect">
                  <a:avLst/>
                </a:prstGeom>
              </p:spPr>
            </p:pic>
            <p:pic>
              <p:nvPicPr>
                <p:cNvPr id="26" name="Picture 25">
                  <a:extLst>
                    <a:ext uri="{FF2B5EF4-FFF2-40B4-BE49-F238E27FC236}">
                      <a16:creationId xmlns:a16="http://schemas.microsoft.com/office/drawing/2014/main" id="{8E60B8FF-BD66-1F7A-D0F7-E103332242E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 rot="19007239">
                  <a:off x="3991119" y="4472208"/>
                  <a:ext cx="1309432" cy="1127167"/>
                </a:xfrm>
                <a:prstGeom prst="rect">
                  <a:avLst/>
                </a:prstGeom>
              </p:spPr>
            </p:pic>
          </p:grpSp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C5BDDCEE-B6DF-37BC-473E-F8B0747177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0800000">
                <a:off x="6471186" y="3400074"/>
                <a:ext cx="1259738" cy="1225477"/>
              </a:xfrm>
              <a:prstGeom prst="rect">
                <a:avLst/>
              </a:prstGeom>
            </p:spPr>
          </p:pic>
        </p:grp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25842AEA-A193-75B2-07DD-BEC67FC2D8F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5400000">
              <a:off x="5003694" y="2025510"/>
              <a:ext cx="1218639" cy="1099863"/>
            </a:xfrm>
            <a:prstGeom prst="rect">
              <a:avLst/>
            </a:prstGeom>
          </p:spPr>
        </p:pic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DE37FCFC-0BC4-72C4-19D0-DE420DEC2FDB}"/>
              </a:ext>
            </a:extLst>
          </p:cNvPr>
          <p:cNvSpPr txBox="1"/>
          <p:nvPr/>
        </p:nvSpPr>
        <p:spPr>
          <a:xfrm>
            <a:off x="838200" y="1927770"/>
            <a:ext cx="5105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Gotta ensure our model works right!</a:t>
            </a:r>
          </a:p>
        </p:txBody>
      </p:sp>
    </p:spTree>
    <p:extLst>
      <p:ext uri="{BB962C8B-B14F-4D97-AF65-F5344CB8AC3E}">
        <p14:creationId xmlns:p14="http://schemas.microsoft.com/office/powerpoint/2010/main" val="31429492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6B0D6-7A64-A9CA-D0F4-052EFBFDA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59A70-12F3-FBEE-B3BD-E61265CBF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Diagnostic Plots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8DE8981-1625-0EE3-AFD1-2DFC7450DC4E}"/>
              </a:ext>
            </a:extLst>
          </p:cNvPr>
          <p:cNvGrpSpPr/>
          <p:nvPr/>
        </p:nvGrpSpPr>
        <p:grpSpPr>
          <a:xfrm>
            <a:off x="7271388" y="-3373085"/>
            <a:ext cx="13604169" cy="13604169"/>
            <a:chOff x="3406806" y="1806606"/>
            <a:chExt cx="4514787" cy="4514787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CF364EB8-9A57-82E5-9BA5-1BF12218156F}"/>
                </a:ext>
              </a:extLst>
            </p:cNvPr>
            <p:cNvGrpSpPr/>
            <p:nvPr/>
          </p:nvGrpSpPr>
          <p:grpSpPr>
            <a:xfrm>
              <a:off x="3406806" y="1806606"/>
              <a:ext cx="4514787" cy="4514787"/>
              <a:chOff x="3406806" y="1806606"/>
              <a:chExt cx="4514787" cy="4514787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5E10C6C8-1908-57AE-5F20-DE49C7C25E54}"/>
                  </a:ext>
                </a:extLst>
              </p:cNvPr>
              <p:cNvGrpSpPr/>
              <p:nvPr/>
            </p:nvGrpSpPr>
            <p:grpSpPr>
              <a:xfrm rot="18792761">
                <a:off x="3406806" y="1806606"/>
                <a:ext cx="4514787" cy="4514787"/>
                <a:chOff x="3406806" y="1806606"/>
                <a:chExt cx="4514787" cy="4514787"/>
              </a:xfrm>
            </p:grpSpPr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AECD36B9-FF44-BB57-47BF-E2EDE8C939A3}"/>
                    </a:ext>
                  </a:extLst>
                </p:cNvPr>
                <p:cNvSpPr/>
                <p:nvPr/>
              </p:nvSpPr>
              <p:spPr>
                <a:xfrm rot="5400000">
                  <a:off x="3406806" y="1806606"/>
                  <a:ext cx="2193894" cy="2193894"/>
                </a:xfrm>
                <a:custGeom>
                  <a:avLst/>
                  <a:gdLst>
                    <a:gd name="connsiteX0" fmla="*/ 0 w 2193894"/>
                    <a:gd name="connsiteY0" fmla="*/ 0 h 2193894"/>
                    <a:gd name="connsiteX1" fmla="*/ 2193894 w 2193894"/>
                    <a:gd name="connsiteY1" fmla="*/ 0 h 2193894"/>
                    <a:gd name="connsiteX2" fmla="*/ 2193894 w 2193894"/>
                    <a:gd name="connsiteY2" fmla="*/ 2193894 h 2193894"/>
                    <a:gd name="connsiteX3" fmla="*/ 2026261 w 2193894"/>
                    <a:gd name="connsiteY3" fmla="*/ 2185429 h 2193894"/>
                    <a:gd name="connsiteX4" fmla="*/ 8465 w 2193894"/>
                    <a:gd name="connsiteY4" fmla="*/ 167633 h 2193894"/>
                    <a:gd name="connsiteX5" fmla="*/ 0 w 2193894"/>
                    <a:gd name="connsiteY5" fmla="*/ 0 h 21938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193894" h="2193894">
                      <a:moveTo>
                        <a:pt x="0" y="0"/>
                      </a:moveTo>
                      <a:lnTo>
                        <a:pt x="2193894" y="0"/>
                      </a:lnTo>
                      <a:lnTo>
                        <a:pt x="2193894" y="2193894"/>
                      </a:lnTo>
                      <a:lnTo>
                        <a:pt x="2026261" y="2185429"/>
                      </a:lnTo>
                      <a:cubicBezTo>
                        <a:pt x="962334" y="2077381"/>
                        <a:pt x="116513" y="1231560"/>
                        <a:pt x="8465" y="167633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tx2">
                    <a:lumMod val="2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F0F35C2B-391A-6298-4CE8-52ED685CDB6A}"/>
                    </a:ext>
                  </a:extLst>
                </p:cNvPr>
                <p:cNvSpPr/>
                <p:nvPr/>
              </p:nvSpPr>
              <p:spPr>
                <a:xfrm rot="5400000">
                  <a:off x="5727699" y="1806607"/>
                  <a:ext cx="2193894" cy="2193893"/>
                </a:xfrm>
                <a:custGeom>
                  <a:avLst/>
                  <a:gdLst>
                    <a:gd name="connsiteX0" fmla="*/ 0 w 2193894"/>
                    <a:gd name="connsiteY0" fmla="*/ 2193893 h 2193893"/>
                    <a:gd name="connsiteX1" fmla="*/ 8465 w 2193894"/>
                    <a:gd name="connsiteY1" fmla="*/ 2026260 h 2193893"/>
                    <a:gd name="connsiteX2" fmla="*/ 2026261 w 2193894"/>
                    <a:gd name="connsiteY2" fmla="*/ 8464 h 2193893"/>
                    <a:gd name="connsiteX3" fmla="*/ 2193894 w 2193894"/>
                    <a:gd name="connsiteY3" fmla="*/ 0 h 2193893"/>
                    <a:gd name="connsiteX4" fmla="*/ 2193894 w 2193894"/>
                    <a:gd name="connsiteY4" fmla="*/ 2193893 h 2193893"/>
                    <a:gd name="connsiteX5" fmla="*/ 0 w 2193894"/>
                    <a:gd name="connsiteY5" fmla="*/ 2193893 h 21938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193894" h="2193893">
                      <a:moveTo>
                        <a:pt x="0" y="2193893"/>
                      </a:moveTo>
                      <a:lnTo>
                        <a:pt x="8465" y="2026260"/>
                      </a:lnTo>
                      <a:cubicBezTo>
                        <a:pt x="116513" y="962333"/>
                        <a:pt x="962334" y="116512"/>
                        <a:pt x="2026261" y="8464"/>
                      </a:cubicBezTo>
                      <a:lnTo>
                        <a:pt x="2193894" y="0"/>
                      </a:lnTo>
                      <a:lnTo>
                        <a:pt x="2193894" y="2193893"/>
                      </a:lnTo>
                      <a:lnTo>
                        <a:pt x="0" y="2193893"/>
                      </a:lnTo>
                      <a:close/>
                    </a:path>
                  </a:pathLst>
                </a:custGeom>
                <a:solidFill>
                  <a:schemeClr val="tx2">
                    <a:lumMod val="2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F5ABECAE-EFF2-B53E-9845-E88E0A3944BD}"/>
                    </a:ext>
                  </a:extLst>
                </p:cNvPr>
                <p:cNvSpPr/>
                <p:nvPr/>
              </p:nvSpPr>
              <p:spPr>
                <a:xfrm rot="5400000">
                  <a:off x="3406807" y="4127499"/>
                  <a:ext cx="2193893" cy="2193894"/>
                </a:xfrm>
                <a:custGeom>
                  <a:avLst/>
                  <a:gdLst>
                    <a:gd name="connsiteX0" fmla="*/ 0 w 2193893"/>
                    <a:gd name="connsiteY0" fmla="*/ 2193894 h 2193894"/>
                    <a:gd name="connsiteX1" fmla="*/ 0 w 2193893"/>
                    <a:gd name="connsiteY1" fmla="*/ 0 h 2193894"/>
                    <a:gd name="connsiteX2" fmla="*/ 2193893 w 2193893"/>
                    <a:gd name="connsiteY2" fmla="*/ 0 h 2193894"/>
                    <a:gd name="connsiteX3" fmla="*/ 2185429 w 2193893"/>
                    <a:gd name="connsiteY3" fmla="*/ 167633 h 2193894"/>
                    <a:gd name="connsiteX4" fmla="*/ 167633 w 2193893"/>
                    <a:gd name="connsiteY4" fmla="*/ 2185429 h 2193894"/>
                    <a:gd name="connsiteX5" fmla="*/ 0 w 2193893"/>
                    <a:gd name="connsiteY5" fmla="*/ 2193894 h 21938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193893" h="2193894">
                      <a:moveTo>
                        <a:pt x="0" y="2193894"/>
                      </a:moveTo>
                      <a:lnTo>
                        <a:pt x="0" y="0"/>
                      </a:lnTo>
                      <a:lnTo>
                        <a:pt x="2193893" y="0"/>
                      </a:lnTo>
                      <a:lnTo>
                        <a:pt x="2185429" y="167633"/>
                      </a:lnTo>
                      <a:cubicBezTo>
                        <a:pt x="2077381" y="1231560"/>
                        <a:pt x="1231560" y="2077381"/>
                        <a:pt x="167633" y="2185429"/>
                      </a:cubicBezTo>
                      <a:lnTo>
                        <a:pt x="0" y="2193894"/>
                      </a:lnTo>
                      <a:close/>
                    </a:path>
                  </a:pathLst>
                </a:custGeom>
                <a:solidFill>
                  <a:schemeClr val="tx2">
                    <a:lumMod val="2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Freeform: Shape 9">
                  <a:extLst>
                    <a:ext uri="{FF2B5EF4-FFF2-40B4-BE49-F238E27FC236}">
                      <a16:creationId xmlns:a16="http://schemas.microsoft.com/office/drawing/2014/main" id="{6C2AC9B1-BB07-C185-8324-954B64CE63D7}"/>
                    </a:ext>
                  </a:extLst>
                </p:cNvPr>
                <p:cNvSpPr/>
                <p:nvPr/>
              </p:nvSpPr>
              <p:spPr>
                <a:xfrm rot="5400000">
                  <a:off x="5727700" y="4127500"/>
                  <a:ext cx="2193893" cy="2193893"/>
                </a:xfrm>
                <a:custGeom>
                  <a:avLst/>
                  <a:gdLst>
                    <a:gd name="connsiteX0" fmla="*/ 0 w 2193893"/>
                    <a:gd name="connsiteY0" fmla="*/ 2193893 h 2193893"/>
                    <a:gd name="connsiteX1" fmla="*/ 0 w 2193893"/>
                    <a:gd name="connsiteY1" fmla="*/ 0 h 2193893"/>
                    <a:gd name="connsiteX2" fmla="*/ 167633 w 2193893"/>
                    <a:gd name="connsiteY2" fmla="*/ 8464 h 2193893"/>
                    <a:gd name="connsiteX3" fmla="*/ 2185429 w 2193893"/>
                    <a:gd name="connsiteY3" fmla="*/ 2026260 h 2193893"/>
                    <a:gd name="connsiteX4" fmla="*/ 2193893 w 2193893"/>
                    <a:gd name="connsiteY4" fmla="*/ 2193893 h 2193893"/>
                    <a:gd name="connsiteX5" fmla="*/ 0 w 2193893"/>
                    <a:gd name="connsiteY5" fmla="*/ 2193893 h 21938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193893" h="2193893">
                      <a:moveTo>
                        <a:pt x="0" y="2193893"/>
                      </a:moveTo>
                      <a:lnTo>
                        <a:pt x="0" y="0"/>
                      </a:lnTo>
                      <a:lnTo>
                        <a:pt x="167633" y="8464"/>
                      </a:lnTo>
                      <a:cubicBezTo>
                        <a:pt x="1231560" y="116512"/>
                        <a:pt x="2077381" y="962333"/>
                        <a:pt x="2185429" y="2026260"/>
                      </a:cubicBezTo>
                      <a:lnTo>
                        <a:pt x="2193893" y="2193893"/>
                      </a:lnTo>
                      <a:lnTo>
                        <a:pt x="0" y="2193893"/>
                      </a:lnTo>
                      <a:close/>
                    </a:path>
                  </a:pathLst>
                </a:custGeom>
                <a:solidFill>
                  <a:schemeClr val="tx2">
                    <a:lumMod val="2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24" name="Picture 23">
                  <a:extLst>
                    <a:ext uri="{FF2B5EF4-FFF2-40B4-BE49-F238E27FC236}">
                      <a16:creationId xmlns:a16="http://schemas.microsoft.com/office/drawing/2014/main" id="{92101B72-803D-B3C3-103B-F837356E1A3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2807239">
                  <a:off x="3984701" y="2434329"/>
                  <a:ext cx="1296181" cy="1195507"/>
                </a:xfrm>
                <a:prstGeom prst="rect">
                  <a:avLst/>
                </a:prstGeom>
              </p:spPr>
            </p:pic>
            <p:pic>
              <p:nvPicPr>
                <p:cNvPr id="26" name="Picture 25">
                  <a:extLst>
                    <a:ext uri="{FF2B5EF4-FFF2-40B4-BE49-F238E27FC236}">
                      <a16:creationId xmlns:a16="http://schemas.microsoft.com/office/drawing/2014/main" id="{7C5B8CBF-D407-30A5-314C-FAE9FB9FE28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 rot="19007239">
                  <a:off x="3991119" y="4472208"/>
                  <a:ext cx="1309432" cy="1127167"/>
                </a:xfrm>
                <a:prstGeom prst="rect">
                  <a:avLst/>
                </a:prstGeom>
              </p:spPr>
            </p:pic>
          </p:grpSp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F4542FB1-1947-F86D-4668-D1D36F31BC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0800000">
                <a:off x="6471186" y="3400074"/>
                <a:ext cx="1259738" cy="1225477"/>
              </a:xfrm>
              <a:prstGeom prst="rect">
                <a:avLst/>
              </a:prstGeom>
            </p:spPr>
          </p:pic>
        </p:grp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C07E60D1-B819-9C71-392F-86324EE9EF1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5400000">
              <a:off x="5003694" y="2025510"/>
              <a:ext cx="1218639" cy="1099863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1537F5F-5FA3-C98C-59D1-59954425FB3B}"/>
              </a:ext>
            </a:extLst>
          </p:cNvPr>
          <p:cNvSpPr txBox="1"/>
          <p:nvPr/>
        </p:nvSpPr>
        <p:spPr>
          <a:xfrm>
            <a:off x="775552" y="3037743"/>
            <a:ext cx="55887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No outliers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No trend in residuals</a:t>
            </a:r>
          </a:p>
        </p:txBody>
      </p:sp>
    </p:spTree>
    <p:extLst>
      <p:ext uri="{BB962C8B-B14F-4D97-AF65-F5344CB8AC3E}">
        <p14:creationId xmlns:p14="http://schemas.microsoft.com/office/powerpoint/2010/main" val="35159226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20C23-38E4-9556-72F4-9A3ED6F4D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4F0A4-D549-672F-7ED9-DE276523F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Diagnostic Plots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CBA3EED-D6B7-A3FE-8843-1C583D832F19}"/>
              </a:ext>
            </a:extLst>
          </p:cNvPr>
          <p:cNvGrpSpPr/>
          <p:nvPr/>
        </p:nvGrpSpPr>
        <p:grpSpPr>
          <a:xfrm rot="5400000">
            <a:off x="7271388" y="-3373085"/>
            <a:ext cx="13604169" cy="13604169"/>
            <a:chOff x="3406806" y="1806606"/>
            <a:chExt cx="4514787" cy="4514787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1380BF18-ED5A-3D74-464E-FAC10DFD329A}"/>
                </a:ext>
              </a:extLst>
            </p:cNvPr>
            <p:cNvGrpSpPr/>
            <p:nvPr/>
          </p:nvGrpSpPr>
          <p:grpSpPr>
            <a:xfrm>
              <a:off x="3406806" y="1806606"/>
              <a:ext cx="4514787" cy="4514787"/>
              <a:chOff x="3406806" y="1806606"/>
              <a:chExt cx="4514787" cy="4514787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C33E804D-A683-53F3-2767-93ED1DD542A1}"/>
                  </a:ext>
                </a:extLst>
              </p:cNvPr>
              <p:cNvGrpSpPr/>
              <p:nvPr/>
            </p:nvGrpSpPr>
            <p:grpSpPr>
              <a:xfrm rot="18792761">
                <a:off x="3406806" y="1806606"/>
                <a:ext cx="4514787" cy="4514787"/>
                <a:chOff x="3406806" y="1806606"/>
                <a:chExt cx="4514787" cy="4514787"/>
              </a:xfrm>
            </p:grpSpPr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46CFBA1F-10BF-6689-0198-77FC4870649C}"/>
                    </a:ext>
                  </a:extLst>
                </p:cNvPr>
                <p:cNvSpPr/>
                <p:nvPr/>
              </p:nvSpPr>
              <p:spPr>
                <a:xfrm rot="5400000">
                  <a:off x="3406806" y="1806606"/>
                  <a:ext cx="2193894" cy="2193894"/>
                </a:xfrm>
                <a:custGeom>
                  <a:avLst/>
                  <a:gdLst>
                    <a:gd name="connsiteX0" fmla="*/ 0 w 2193894"/>
                    <a:gd name="connsiteY0" fmla="*/ 0 h 2193894"/>
                    <a:gd name="connsiteX1" fmla="*/ 2193894 w 2193894"/>
                    <a:gd name="connsiteY1" fmla="*/ 0 h 2193894"/>
                    <a:gd name="connsiteX2" fmla="*/ 2193894 w 2193894"/>
                    <a:gd name="connsiteY2" fmla="*/ 2193894 h 2193894"/>
                    <a:gd name="connsiteX3" fmla="*/ 2026261 w 2193894"/>
                    <a:gd name="connsiteY3" fmla="*/ 2185429 h 2193894"/>
                    <a:gd name="connsiteX4" fmla="*/ 8465 w 2193894"/>
                    <a:gd name="connsiteY4" fmla="*/ 167633 h 2193894"/>
                    <a:gd name="connsiteX5" fmla="*/ 0 w 2193894"/>
                    <a:gd name="connsiteY5" fmla="*/ 0 h 21938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193894" h="2193894">
                      <a:moveTo>
                        <a:pt x="0" y="0"/>
                      </a:moveTo>
                      <a:lnTo>
                        <a:pt x="2193894" y="0"/>
                      </a:lnTo>
                      <a:lnTo>
                        <a:pt x="2193894" y="2193894"/>
                      </a:lnTo>
                      <a:lnTo>
                        <a:pt x="2026261" y="2185429"/>
                      </a:lnTo>
                      <a:cubicBezTo>
                        <a:pt x="962334" y="2077381"/>
                        <a:pt x="116513" y="1231560"/>
                        <a:pt x="8465" y="167633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tx2">
                    <a:lumMod val="2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08A029F9-677A-0335-E8D4-B50427B7FFB9}"/>
                    </a:ext>
                  </a:extLst>
                </p:cNvPr>
                <p:cNvSpPr/>
                <p:nvPr/>
              </p:nvSpPr>
              <p:spPr>
                <a:xfrm rot="5400000">
                  <a:off x="5727699" y="1806607"/>
                  <a:ext cx="2193894" cy="2193893"/>
                </a:xfrm>
                <a:custGeom>
                  <a:avLst/>
                  <a:gdLst>
                    <a:gd name="connsiteX0" fmla="*/ 0 w 2193894"/>
                    <a:gd name="connsiteY0" fmla="*/ 2193893 h 2193893"/>
                    <a:gd name="connsiteX1" fmla="*/ 8465 w 2193894"/>
                    <a:gd name="connsiteY1" fmla="*/ 2026260 h 2193893"/>
                    <a:gd name="connsiteX2" fmla="*/ 2026261 w 2193894"/>
                    <a:gd name="connsiteY2" fmla="*/ 8464 h 2193893"/>
                    <a:gd name="connsiteX3" fmla="*/ 2193894 w 2193894"/>
                    <a:gd name="connsiteY3" fmla="*/ 0 h 2193893"/>
                    <a:gd name="connsiteX4" fmla="*/ 2193894 w 2193894"/>
                    <a:gd name="connsiteY4" fmla="*/ 2193893 h 2193893"/>
                    <a:gd name="connsiteX5" fmla="*/ 0 w 2193894"/>
                    <a:gd name="connsiteY5" fmla="*/ 2193893 h 21938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193894" h="2193893">
                      <a:moveTo>
                        <a:pt x="0" y="2193893"/>
                      </a:moveTo>
                      <a:lnTo>
                        <a:pt x="8465" y="2026260"/>
                      </a:lnTo>
                      <a:cubicBezTo>
                        <a:pt x="116513" y="962333"/>
                        <a:pt x="962334" y="116512"/>
                        <a:pt x="2026261" y="8464"/>
                      </a:cubicBezTo>
                      <a:lnTo>
                        <a:pt x="2193894" y="0"/>
                      </a:lnTo>
                      <a:lnTo>
                        <a:pt x="2193894" y="2193893"/>
                      </a:lnTo>
                      <a:lnTo>
                        <a:pt x="0" y="2193893"/>
                      </a:lnTo>
                      <a:close/>
                    </a:path>
                  </a:pathLst>
                </a:custGeom>
                <a:solidFill>
                  <a:schemeClr val="tx2">
                    <a:lumMod val="2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3674B575-07CE-9055-F45B-F511D89CAD41}"/>
                    </a:ext>
                  </a:extLst>
                </p:cNvPr>
                <p:cNvSpPr/>
                <p:nvPr/>
              </p:nvSpPr>
              <p:spPr>
                <a:xfrm rot="5400000">
                  <a:off x="3406807" y="4127499"/>
                  <a:ext cx="2193893" cy="2193894"/>
                </a:xfrm>
                <a:custGeom>
                  <a:avLst/>
                  <a:gdLst>
                    <a:gd name="connsiteX0" fmla="*/ 0 w 2193893"/>
                    <a:gd name="connsiteY0" fmla="*/ 2193894 h 2193894"/>
                    <a:gd name="connsiteX1" fmla="*/ 0 w 2193893"/>
                    <a:gd name="connsiteY1" fmla="*/ 0 h 2193894"/>
                    <a:gd name="connsiteX2" fmla="*/ 2193893 w 2193893"/>
                    <a:gd name="connsiteY2" fmla="*/ 0 h 2193894"/>
                    <a:gd name="connsiteX3" fmla="*/ 2185429 w 2193893"/>
                    <a:gd name="connsiteY3" fmla="*/ 167633 h 2193894"/>
                    <a:gd name="connsiteX4" fmla="*/ 167633 w 2193893"/>
                    <a:gd name="connsiteY4" fmla="*/ 2185429 h 2193894"/>
                    <a:gd name="connsiteX5" fmla="*/ 0 w 2193893"/>
                    <a:gd name="connsiteY5" fmla="*/ 2193894 h 21938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193893" h="2193894">
                      <a:moveTo>
                        <a:pt x="0" y="2193894"/>
                      </a:moveTo>
                      <a:lnTo>
                        <a:pt x="0" y="0"/>
                      </a:lnTo>
                      <a:lnTo>
                        <a:pt x="2193893" y="0"/>
                      </a:lnTo>
                      <a:lnTo>
                        <a:pt x="2185429" y="167633"/>
                      </a:lnTo>
                      <a:cubicBezTo>
                        <a:pt x="2077381" y="1231560"/>
                        <a:pt x="1231560" y="2077381"/>
                        <a:pt x="167633" y="2185429"/>
                      </a:cubicBezTo>
                      <a:lnTo>
                        <a:pt x="0" y="2193894"/>
                      </a:lnTo>
                      <a:close/>
                    </a:path>
                  </a:pathLst>
                </a:custGeom>
                <a:solidFill>
                  <a:schemeClr val="tx2">
                    <a:lumMod val="2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Freeform: Shape 9">
                  <a:extLst>
                    <a:ext uri="{FF2B5EF4-FFF2-40B4-BE49-F238E27FC236}">
                      <a16:creationId xmlns:a16="http://schemas.microsoft.com/office/drawing/2014/main" id="{E4898A51-8388-DB51-4ED2-76431CB99A2D}"/>
                    </a:ext>
                  </a:extLst>
                </p:cNvPr>
                <p:cNvSpPr/>
                <p:nvPr/>
              </p:nvSpPr>
              <p:spPr>
                <a:xfrm rot="5400000">
                  <a:off x="5727700" y="4127500"/>
                  <a:ext cx="2193893" cy="2193893"/>
                </a:xfrm>
                <a:custGeom>
                  <a:avLst/>
                  <a:gdLst>
                    <a:gd name="connsiteX0" fmla="*/ 0 w 2193893"/>
                    <a:gd name="connsiteY0" fmla="*/ 2193893 h 2193893"/>
                    <a:gd name="connsiteX1" fmla="*/ 0 w 2193893"/>
                    <a:gd name="connsiteY1" fmla="*/ 0 h 2193893"/>
                    <a:gd name="connsiteX2" fmla="*/ 167633 w 2193893"/>
                    <a:gd name="connsiteY2" fmla="*/ 8464 h 2193893"/>
                    <a:gd name="connsiteX3" fmla="*/ 2185429 w 2193893"/>
                    <a:gd name="connsiteY3" fmla="*/ 2026260 h 2193893"/>
                    <a:gd name="connsiteX4" fmla="*/ 2193893 w 2193893"/>
                    <a:gd name="connsiteY4" fmla="*/ 2193893 h 2193893"/>
                    <a:gd name="connsiteX5" fmla="*/ 0 w 2193893"/>
                    <a:gd name="connsiteY5" fmla="*/ 2193893 h 21938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193893" h="2193893">
                      <a:moveTo>
                        <a:pt x="0" y="2193893"/>
                      </a:moveTo>
                      <a:lnTo>
                        <a:pt x="0" y="0"/>
                      </a:lnTo>
                      <a:lnTo>
                        <a:pt x="167633" y="8464"/>
                      </a:lnTo>
                      <a:cubicBezTo>
                        <a:pt x="1231560" y="116512"/>
                        <a:pt x="2077381" y="962333"/>
                        <a:pt x="2185429" y="2026260"/>
                      </a:cubicBezTo>
                      <a:lnTo>
                        <a:pt x="2193893" y="2193893"/>
                      </a:lnTo>
                      <a:lnTo>
                        <a:pt x="0" y="2193893"/>
                      </a:lnTo>
                      <a:close/>
                    </a:path>
                  </a:pathLst>
                </a:custGeom>
                <a:solidFill>
                  <a:schemeClr val="tx2">
                    <a:lumMod val="2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24" name="Picture 23">
                  <a:extLst>
                    <a:ext uri="{FF2B5EF4-FFF2-40B4-BE49-F238E27FC236}">
                      <a16:creationId xmlns:a16="http://schemas.microsoft.com/office/drawing/2014/main" id="{A9F47F41-72C7-0026-1CF7-4FDF66C766E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2807239">
                  <a:off x="3984701" y="2434329"/>
                  <a:ext cx="1296181" cy="1195507"/>
                </a:xfrm>
                <a:prstGeom prst="rect">
                  <a:avLst/>
                </a:prstGeom>
              </p:spPr>
            </p:pic>
            <p:pic>
              <p:nvPicPr>
                <p:cNvPr id="26" name="Picture 25">
                  <a:extLst>
                    <a:ext uri="{FF2B5EF4-FFF2-40B4-BE49-F238E27FC236}">
                      <a16:creationId xmlns:a16="http://schemas.microsoft.com/office/drawing/2014/main" id="{D6F85E9F-B4A7-0025-3D56-B4F7336FF18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 rot="19007239">
                  <a:off x="3991119" y="4472208"/>
                  <a:ext cx="1309432" cy="1127167"/>
                </a:xfrm>
                <a:prstGeom prst="rect">
                  <a:avLst/>
                </a:prstGeom>
              </p:spPr>
            </p:pic>
          </p:grpSp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79D370CD-B433-D95A-A959-D11E380F03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0800000">
                <a:off x="6471186" y="3400074"/>
                <a:ext cx="1259738" cy="1225477"/>
              </a:xfrm>
              <a:prstGeom prst="rect">
                <a:avLst/>
              </a:prstGeom>
            </p:spPr>
          </p:pic>
        </p:grp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6B1D3630-DE57-DFAA-4082-37DC982FCEB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5400000">
              <a:off x="5003694" y="2025510"/>
              <a:ext cx="1218639" cy="1099863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5BA443B-87B6-A715-83C2-F71CAFDA5EBD}"/>
              </a:ext>
            </a:extLst>
          </p:cNvPr>
          <p:cNvSpPr txBox="1"/>
          <p:nvPr/>
        </p:nvSpPr>
        <p:spPr>
          <a:xfrm>
            <a:off x="673252" y="2114417"/>
            <a:ext cx="558873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Like win rate, fat tailed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Not normal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Due to non-normality of underlying data</a:t>
            </a:r>
          </a:p>
        </p:txBody>
      </p:sp>
    </p:spTree>
    <p:extLst>
      <p:ext uri="{BB962C8B-B14F-4D97-AF65-F5344CB8AC3E}">
        <p14:creationId xmlns:p14="http://schemas.microsoft.com/office/powerpoint/2010/main" val="23274146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ABDF4-D233-9BE1-FCB0-882367D9F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AEA46-4C51-26BE-BE10-AB966F10C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Diagnostic Plots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1B6CD6F-1BC3-70B2-5D2F-8FD7D98394E3}"/>
              </a:ext>
            </a:extLst>
          </p:cNvPr>
          <p:cNvGrpSpPr/>
          <p:nvPr/>
        </p:nvGrpSpPr>
        <p:grpSpPr>
          <a:xfrm rot="10800000">
            <a:off x="7271388" y="-3373085"/>
            <a:ext cx="13604169" cy="13604169"/>
            <a:chOff x="3406806" y="1806606"/>
            <a:chExt cx="4514787" cy="4514787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E97E56CE-020E-E485-31B5-47230A67164E}"/>
                </a:ext>
              </a:extLst>
            </p:cNvPr>
            <p:cNvGrpSpPr/>
            <p:nvPr/>
          </p:nvGrpSpPr>
          <p:grpSpPr>
            <a:xfrm>
              <a:off x="3406806" y="1806606"/>
              <a:ext cx="4514787" cy="4514787"/>
              <a:chOff x="3406806" y="1806606"/>
              <a:chExt cx="4514787" cy="4514787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CC45593C-9060-7478-E389-951D1304F9D3}"/>
                  </a:ext>
                </a:extLst>
              </p:cNvPr>
              <p:cNvGrpSpPr/>
              <p:nvPr/>
            </p:nvGrpSpPr>
            <p:grpSpPr>
              <a:xfrm rot="18792761">
                <a:off x="3406806" y="1806606"/>
                <a:ext cx="4514787" cy="4514787"/>
                <a:chOff x="3406806" y="1806606"/>
                <a:chExt cx="4514787" cy="4514787"/>
              </a:xfrm>
            </p:grpSpPr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77CD0B29-8FB7-CC96-0627-FE4487E9A012}"/>
                    </a:ext>
                  </a:extLst>
                </p:cNvPr>
                <p:cNvSpPr/>
                <p:nvPr/>
              </p:nvSpPr>
              <p:spPr>
                <a:xfrm rot="5400000">
                  <a:off x="3406806" y="1806606"/>
                  <a:ext cx="2193894" cy="2193894"/>
                </a:xfrm>
                <a:custGeom>
                  <a:avLst/>
                  <a:gdLst>
                    <a:gd name="connsiteX0" fmla="*/ 0 w 2193894"/>
                    <a:gd name="connsiteY0" fmla="*/ 0 h 2193894"/>
                    <a:gd name="connsiteX1" fmla="*/ 2193894 w 2193894"/>
                    <a:gd name="connsiteY1" fmla="*/ 0 h 2193894"/>
                    <a:gd name="connsiteX2" fmla="*/ 2193894 w 2193894"/>
                    <a:gd name="connsiteY2" fmla="*/ 2193894 h 2193894"/>
                    <a:gd name="connsiteX3" fmla="*/ 2026261 w 2193894"/>
                    <a:gd name="connsiteY3" fmla="*/ 2185429 h 2193894"/>
                    <a:gd name="connsiteX4" fmla="*/ 8465 w 2193894"/>
                    <a:gd name="connsiteY4" fmla="*/ 167633 h 2193894"/>
                    <a:gd name="connsiteX5" fmla="*/ 0 w 2193894"/>
                    <a:gd name="connsiteY5" fmla="*/ 0 h 21938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193894" h="2193894">
                      <a:moveTo>
                        <a:pt x="0" y="0"/>
                      </a:moveTo>
                      <a:lnTo>
                        <a:pt x="2193894" y="0"/>
                      </a:lnTo>
                      <a:lnTo>
                        <a:pt x="2193894" y="2193894"/>
                      </a:lnTo>
                      <a:lnTo>
                        <a:pt x="2026261" y="2185429"/>
                      </a:lnTo>
                      <a:cubicBezTo>
                        <a:pt x="962334" y="2077381"/>
                        <a:pt x="116513" y="1231560"/>
                        <a:pt x="8465" y="167633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tx2">
                    <a:lumMod val="2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3B5F8CB9-3302-CF9B-3571-C9B3BB7362D0}"/>
                    </a:ext>
                  </a:extLst>
                </p:cNvPr>
                <p:cNvSpPr/>
                <p:nvPr/>
              </p:nvSpPr>
              <p:spPr>
                <a:xfrm rot="5400000">
                  <a:off x="5727699" y="1806607"/>
                  <a:ext cx="2193894" cy="2193893"/>
                </a:xfrm>
                <a:custGeom>
                  <a:avLst/>
                  <a:gdLst>
                    <a:gd name="connsiteX0" fmla="*/ 0 w 2193894"/>
                    <a:gd name="connsiteY0" fmla="*/ 2193893 h 2193893"/>
                    <a:gd name="connsiteX1" fmla="*/ 8465 w 2193894"/>
                    <a:gd name="connsiteY1" fmla="*/ 2026260 h 2193893"/>
                    <a:gd name="connsiteX2" fmla="*/ 2026261 w 2193894"/>
                    <a:gd name="connsiteY2" fmla="*/ 8464 h 2193893"/>
                    <a:gd name="connsiteX3" fmla="*/ 2193894 w 2193894"/>
                    <a:gd name="connsiteY3" fmla="*/ 0 h 2193893"/>
                    <a:gd name="connsiteX4" fmla="*/ 2193894 w 2193894"/>
                    <a:gd name="connsiteY4" fmla="*/ 2193893 h 2193893"/>
                    <a:gd name="connsiteX5" fmla="*/ 0 w 2193894"/>
                    <a:gd name="connsiteY5" fmla="*/ 2193893 h 21938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193894" h="2193893">
                      <a:moveTo>
                        <a:pt x="0" y="2193893"/>
                      </a:moveTo>
                      <a:lnTo>
                        <a:pt x="8465" y="2026260"/>
                      </a:lnTo>
                      <a:cubicBezTo>
                        <a:pt x="116513" y="962333"/>
                        <a:pt x="962334" y="116512"/>
                        <a:pt x="2026261" y="8464"/>
                      </a:cubicBezTo>
                      <a:lnTo>
                        <a:pt x="2193894" y="0"/>
                      </a:lnTo>
                      <a:lnTo>
                        <a:pt x="2193894" y="2193893"/>
                      </a:lnTo>
                      <a:lnTo>
                        <a:pt x="0" y="2193893"/>
                      </a:lnTo>
                      <a:close/>
                    </a:path>
                  </a:pathLst>
                </a:custGeom>
                <a:solidFill>
                  <a:schemeClr val="tx2">
                    <a:lumMod val="2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F8604621-9706-9A8D-629B-F626A839350E}"/>
                    </a:ext>
                  </a:extLst>
                </p:cNvPr>
                <p:cNvSpPr/>
                <p:nvPr/>
              </p:nvSpPr>
              <p:spPr>
                <a:xfrm rot="5400000">
                  <a:off x="3406807" y="4127499"/>
                  <a:ext cx="2193893" cy="2193894"/>
                </a:xfrm>
                <a:custGeom>
                  <a:avLst/>
                  <a:gdLst>
                    <a:gd name="connsiteX0" fmla="*/ 0 w 2193893"/>
                    <a:gd name="connsiteY0" fmla="*/ 2193894 h 2193894"/>
                    <a:gd name="connsiteX1" fmla="*/ 0 w 2193893"/>
                    <a:gd name="connsiteY1" fmla="*/ 0 h 2193894"/>
                    <a:gd name="connsiteX2" fmla="*/ 2193893 w 2193893"/>
                    <a:gd name="connsiteY2" fmla="*/ 0 h 2193894"/>
                    <a:gd name="connsiteX3" fmla="*/ 2185429 w 2193893"/>
                    <a:gd name="connsiteY3" fmla="*/ 167633 h 2193894"/>
                    <a:gd name="connsiteX4" fmla="*/ 167633 w 2193893"/>
                    <a:gd name="connsiteY4" fmla="*/ 2185429 h 2193894"/>
                    <a:gd name="connsiteX5" fmla="*/ 0 w 2193893"/>
                    <a:gd name="connsiteY5" fmla="*/ 2193894 h 21938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193893" h="2193894">
                      <a:moveTo>
                        <a:pt x="0" y="2193894"/>
                      </a:moveTo>
                      <a:lnTo>
                        <a:pt x="0" y="0"/>
                      </a:lnTo>
                      <a:lnTo>
                        <a:pt x="2193893" y="0"/>
                      </a:lnTo>
                      <a:lnTo>
                        <a:pt x="2185429" y="167633"/>
                      </a:lnTo>
                      <a:cubicBezTo>
                        <a:pt x="2077381" y="1231560"/>
                        <a:pt x="1231560" y="2077381"/>
                        <a:pt x="167633" y="2185429"/>
                      </a:cubicBezTo>
                      <a:lnTo>
                        <a:pt x="0" y="2193894"/>
                      </a:lnTo>
                      <a:close/>
                    </a:path>
                  </a:pathLst>
                </a:custGeom>
                <a:solidFill>
                  <a:schemeClr val="tx2">
                    <a:lumMod val="2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Freeform: Shape 9">
                  <a:extLst>
                    <a:ext uri="{FF2B5EF4-FFF2-40B4-BE49-F238E27FC236}">
                      <a16:creationId xmlns:a16="http://schemas.microsoft.com/office/drawing/2014/main" id="{95A36D9E-4CD7-7FE2-4512-9C307125E3E6}"/>
                    </a:ext>
                  </a:extLst>
                </p:cNvPr>
                <p:cNvSpPr/>
                <p:nvPr/>
              </p:nvSpPr>
              <p:spPr>
                <a:xfrm rot="5400000">
                  <a:off x="5727700" y="4127500"/>
                  <a:ext cx="2193893" cy="2193893"/>
                </a:xfrm>
                <a:custGeom>
                  <a:avLst/>
                  <a:gdLst>
                    <a:gd name="connsiteX0" fmla="*/ 0 w 2193893"/>
                    <a:gd name="connsiteY0" fmla="*/ 2193893 h 2193893"/>
                    <a:gd name="connsiteX1" fmla="*/ 0 w 2193893"/>
                    <a:gd name="connsiteY1" fmla="*/ 0 h 2193893"/>
                    <a:gd name="connsiteX2" fmla="*/ 167633 w 2193893"/>
                    <a:gd name="connsiteY2" fmla="*/ 8464 h 2193893"/>
                    <a:gd name="connsiteX3" fmla="*/ 2185429 w 2193893"/>
                    <a:gd name="connsiteY3" fmla="*/ 2026260 h 2193893"/>
                    <a:gd name="connsiteX4" fmla="*/ 2193893 w 2193893"/>
                    <a:gd name="connsiteY4" fmla="*/ 2193893 h 2193893"/>
                    <a:gd name="connsiteX5" fmla="*/ 0 w 2193893"/>
                    <a:gd name="connsiteY5" fmla="*/ 2193893 h 21938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193893" h="2193893">
                      <a:moveTo>
                        <a:pt x="0" y="2193893"/>
                      </a:moveTo>
                      <a:lnTo>
                        <a:pt x="0" y="0"/>
                      </a:lnTo>
                      <a:lnTo>
                        <a:pt x="167633" y="8464"/>
                      </a:lnTo>
                      <a:cubicBezTo>
                        <a:pt x="1231560" y="116512"/>
                        <a:pt x="2077381" y="962333"/>
                        <a:pt x="2185429" y="2026260"/>
                      </a:cubicBezTo>
                      <a:lnTo>
                        <a:pt x="2193893" y="2193893"/>
                      </a:lnTo>
                      <a:lnTo>
                        <a:pt x="0" y="2193893"/>
                      </a:lnTo>
                      <a:close/>
                    </a:path>
                  </a:pathLst>
                </a:custGeom>
                <a:solidFill>
                  <a:schemeClr val="tx2">
                    <a:lumMod val="2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24" name="Picture 23">
                  <a:extLst>
                    <a:ext uri="{FF2B5EF4-FFF2-40B4-BE49-F238E27FC236}">
                      <a16:creationId xmlns:a16="http://schemas.microsoft.com/office/drawing/2014/main" id="{7C213AC1-DC1A-76C7-F15F-987C30D5D11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2807239">
                  <a:off x="3984701" y="2434329"/>
                  <a:ext cx="1296181" cy="1195507"/>
                </a:xfrm>
                <a:prstGeom prst="rect">
                  <a:avLst/>
                </a:prstGeom>
              </p:spPr>
            </p:pic>
            <p:pic>
              <p:nvPicPr>
                <p:cNvPr id="26" name="Picture 25">
                  <a:extLst>
                    <a:ext uri="{FF2B5EF4-FFF2-40B4-BE49-F238E27FC236}">
                      <a16:creationId xmlns:a16="http://schemas.microsoft.com/office/drawing/2014/main" id="{901BDE62-5511-0DDE-AE98-BABD0B0784F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 rot="19007239">
                  <a:off x="3991119" y="4472208"/>
                  <a:ext cx="1309432" cy="1127167"/>
                </a:xfrm>
                <a:prstGeom prst="rect">
                  <a:avLst/>
                </a:prstGeom>
              </p:spPr>
            </p:pic>
          </p:grpSp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CBD20F3C-E50E-1829-CA1D-B8C223BBB5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0800000">
                <a:off x="6471186" y="3400074"/>
                <a:ext cx="1259738" cy="1225477"/>
              </a:xfrm>
              <a:prstGeom prst="rect">
                <a:avLst/>
              </a:prstGeom>
            </p:spPr>
          </p:pic>
        </p:grp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261854CD-C5C3-A2F3-457D-02CBF5621B5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5400000">
              <a:off x="5003694" y="2025510"/>
              <a:ext cx="1218639" cy="1099863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6469577-19DF-A313-CC74-F7A8F0B561FD}"/>
              </a:ext>
            </a:extLst>
          </p:cNvPr>
          <p:cNvSpPr txBox="1"/>
          <p:nvPr/>
        </p:nvSpPr>
        <p:spPr>
          <a:xfrm>
            <a:off x="673252" y="2114417"/>
            <a:ext cx="558873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No trend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Indicates homoscedasticity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That means equal variances!</a:t>
            </a:r>
          </a:p>
        </p:txBody>
      </p:sp>
    </p:spTree>
    <p:extLst>
      <p:ext uri="{BB962C8B-B14F-4D97-AF65-F5344CB8AC3E}">
        <p14:creationId xmlns:p14="http://schemas.microsoft.com/office/powerpoint/2010/main" val="19899480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0635C-E5B4-675D-382A-9FAFB9BF1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002A4-06D0-3D4C-6F4B-2C4CDD7C4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Diagnostic Plots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8B0F318-6F73-1987-0FEB-C2DAE1FC4FA2}"/>
              </a:ext>
            </a:extLst>
          </p:cNvPr>
          <p:cNvGrpSpPr/>
          <p:nvPr/>
        </p:nvGrpSpPr>
        <p:grpSpPr>
          <a:xfrm rot="16200000">
            <a:off x="7271388" y="-3373085"/>
            <a:ext cx="13604169" cy="13604169"/>
            <a:chOff x="3406806" y="1806606"/>
            <a:chExt cx="4514787" cy="4514787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08096FE9-F922-33C7-48AC-E82DEA6F316B}"/>
                </a:ext>
              </a:extLst>
            </p:cNvPr>
            <p:cNvGrpSpPr/>
            <p:nvPr/>
          </p:nvGrpSpPr>
          <p:grpSpPr>
            <a:xfrm>
              <a:off x="3406806" y="1806606"/>
              <a:ext cx="4514787" cy="4514787"/>
              <a:chOff x="3406806" y="1806606"/>
              <a:chExt cx="4514787" cy="4514787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7F46386A-9C5C-64AF-BB6C-9D1AE8A2B9B5}"/>
                  </a:ext>
                </a:extLst>
              </p:cNvPr>
              <p:cNvGrpSpPr/>
              <p:nvPr/>
            </p:nvGrpSpPr>
            <p:grpSpPr>
              <a:xfrm rot="18792761">
                <a:off x="3406806" y="1806606"/>
                <a:ext cx="4514787" cy="4514787"/>
                <a:chOff x="3406806" y="1806606"/>
                <a:chExt cx="4514787" cy="4514787"/>
              </a:xfrm>
            </p:grpSpPr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EE9C44FF-2586-C1C6-6FF1-431A0AA5E262}"/>
                    </a:ext>
                  </a:extLst>
                </p:cNvPr>
                <p:cNvSpPr/>
                <p:nvPr/>
              </p:nvSpPr>
              <p:spPr>
                <a:xfrm rot="5400000">
                  <a:off x="3406806" y="1806606"/>
                  <a:ext cx="2193894" cy="2193894"/>
                </a:xfrm>
                <a:custGeom>
                  <a:avLst/>
                  <a:gdLst>
                    <a:gd name="connsiteX0" fmla="*/ 0 w 2193894"/>
                    <a:gd name="connsiteY0" fmla="*/ 0 h 2193894"/>
                    <a:gd name="connsiteX1" fmla="*/ 2193894 w 2193894"/>
                    <a:gd name="connsiteY1" fmla="*/ 0 h 2193894"/>
                    <a:gd name="connsiteX2" fmla="*/ 2193894 w 2193894"/>
                    <a:gd name="connsiteY2" fmla="*/ 2193894 h 2193894"/>
                    <a:gd name="connsiteX3" fmla="*/ 2026261 w 2193894"/>
                    <a:gd name="connsiteY3" fmla="*/ 2185429 h 2193894"/>
                    <a:gd name="connsiteX4" fmla="*/ 8465 w 2193894"/>
                    <a:gd name="connsiteY4" fmla="*/ 167633 h 2193894"/>
                    <a:gd name="connsiteX5" fmla="*/ 0 w 2193894"/>
                    <a:gd name="connsiteY5" fmla="*/ 0 h 21938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193894" h="2193894">
                      <a:moveTo>
                        <a:pt x="0" y="0"/>
                      </a:moveTo>
                      <a:lnTo>
                        <a:pt x="2193894" y="0"/>
                      </a:lnTo>
                      <a:lnTo>
                        <a:pt x="2193894" y="2193894"/>
                      </a:lnTo>
                      <a:lnTo>
                        <a:pt x="2026261" y="2185429"/>
                      </a:lnTo>
                      <a:cubicBezTo>
                        <a:pt x="962334" y="2077381"/>
                        <a:pt x="116513" y="1231560"/>
                        <a:pt x="8465" y="167633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tx2">
                    <a:lumMod val="2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E2D3FBC4-73F9-3AF3-53AB-24153F213C4C}"/>
                    </a:ext>
                  </a:extLst>
                </p:cNvPr>
                <p:cNvSpPr/>
                <p:nvPr/>
              </p:nvSpPr>
              <p:spPr>
                <a:xfrm rot="5400000">
                  <a:off x="5727699" y="1806607"/>
                  <a:ext cx="2193894" cy="2193893"/>
                </a:xfrm>
                <a:custGeom>
                  <a:avLst/>
                  <a:gdLst>
                    <a:gd name="connsiteX0" fmla="*/ 0 w 2193894"/>
                    <a:gd name="connsiteY0" fmla="*/ 2193893 h 2193893"/>
                    <a:gd name="connsiteX1" fmla="*/ 8465 w 2193894"/>
                    <a:gd name="connsiteY1" fmla="*/ 2026260 h 2193893"/>
                    <a:gd name="connsiteX2" fmla="*/ 2026261 w 2193894"/>
                    <a:gd name="connsiteY2" fmla="*/ 8464 h 2193893"/>
                    <a:gd name="connsiteX3" fmla="*/ 2193894 w 2193894"/>
                    <a:gd name="connsiteY3" fmla="*/ 0 h 2193893"/>
                    <a:gd name="connsiteX4" fmla="*/ 2193894 w 2193894"/>
                    <a:gd name="connsiteY4" fmla="*/ 2193893 h 2193893"/>
                    <a:gd name="connsiteX5" fmla="*/ 0 w 2193894"/>
                    <a:gd name="connsiteY5" fmla="*/ 2193893 h 21938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193894" h="2193893">
                      <a:moveTo>
                        <a:pt x="0" y="2193893"/>
                      </a:moveTo>
                      <a:lnTo>
                        <a:pt x="8465" y="2026260"/>
                      </a:lnTo>
                      <a:cubicBezTo>
                        <a:pt x="116513" y="962333"/>
                        <a:pt x="962334" y="116512"/>
                        <a:pt x="2026261" y="8464"/>
                      </a:cubicBezTo>
                      <a:lnTo>
                        <a:pt x="2193894" y="0"/>
                      </a:lnTo>
                      <a:lnTo>
                        <a:pt x="2193894" y="2193893"/>
                      </a:lnTo>
                      <a:lnTo>
                        <a:pt x="0" y="2193893"/>
                      </a:lnTo>
                      <a:close/>
                    </a:path>
                  </a:pathLst>
                </a:custGeom>
                <a:solidFill>
                  <a:schemeClr val="tx2">
                    <a:lumMod val="2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51128632-AFC4-C8D2-6E4F-AC2929DE8611}"/>
                    </a:ext>
                  </a:extLst>
                </p:cNvPr>
                <p:cNvSpPr/>
                <p:nvPr/>
              </p:nvSpPr>
              <p:spPr>
                <a:xfrm rot="5400000">
                  <a:off x="3406807" y="4127499"/>
                  <a:ext cx="2193893" cy="2193894"/>
                </a:xfrm>
                <a:custGeom>
                  <a:avLst/>
                  <a:gdLst>
                    <a:gd name="connsiteX0" fmla="*/ 0 w 2193893"/>
                    <a:gd name="connsiteY0" fmla="*/ 2193894 h 2193894"/>
                    <a:gd name="connsiteX1" fmla="*/ 0 w 2193893"/>
                    <a:gd name="connsiteY1" fmla="*/ 0 h 2193894"/>
                    <a:gd name="connsiteX2" fmla="*/ 2193893 w 2193893"/>
                    <a:gd name="connsiteY2" fmla="*/ 0 h 2193894"/>
                    <a:gd name="connsiteX3" fmla="*/ 2185429 w 2193893"/>
                    <a:gd name="connsiteY3" fmla="*/ 167633 h 2193894"/>
                    <a:gd name="connsiteX4" fmla="*/ 167633 w 2193893"/>
                    <a:gd name="connsiteY4" fmla="*/ 2185429 h 2193894"/>
                    <a:gd name="connsiteX5" fmla="*/ 0 w 2193893"/>
                    <a:gd name="connsiteY5" fmla="*/ 2193894 h 21938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193893" h="2193894">
                      <a:moveTo>
                        <a:pt x="0" y="2193894"/>
                      </a:moveTo>
                      <a:lnTo>
                        <a:pt x="0" y="0"/>
                      </a:lnTo>
                      <a:lnTo>
                        <a:pt x="2193893" y="0"/>
                      </a:lnTo>
                      <a:lnTo>
                        <a:pt x="2185429" y="167633"/>
                      </a:lnTo>
                      <a:cubicBezTo>
                        <a:pt x="2077381" y="1231560"/>
                        <a:pt x="1231560" y="2077381"/>
                        <a:pt x="167633" y="2185429"/>
                      </a:cubicBezTo>
                      <a:lnTo>
                        <a:pt x="0" y="2193894"/>
                      </a:lnTo>
                      <a:close/>
                    </a:path>
                  </a:pathLst>
                </a:custGeom>
                <a:solidFill>
                  <a:schemeClr val="tx2">
                    <a:lumMod val="2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Freeform: Shape 9">
                  <a:extLst>
                    <a:ext uri="{FF2B5EF4-FFF2-40B4-BE49-F238E27FC236}">
                      <a16:creationId xmlns:a16="http://schemas.microsoft.com/office/drawing/2014/main" id="{81DA5D8A-762D-36FA-3105-510991A3FC59}"/>
                    </a:ext>
                  </a:extLst>
                </p:cNvPr>
                <p:cNvSpPr/>
                <p:nvPr/>
              </p:nvSpPr>
              <p:spPr>
                <a:xfrm rot="5400000">
                  <a:off x="5727700" y="4127500"/>
                  <a:ext cx="2193893" cy="2193893"/>
                </a:xfrm>
                <a:custGeom>
                  <a:avLst/>
                  <a:gdLst>
                    <a:gd name="connsiteX0" fmla="*/ 0 w 2193893"/>
                    <a:gd name="connsiteY0" fmla="*/ 2193893 h 2193893"/>
                    <a:gd name="connsiteX1" fmla="*/ 0 w 2193893"/>
                    <a:gd name="connsiteY1" fmla="*/ 0 h 2193893"/>
                    <a:gd name="connsiteX2" fmla="*/ 167633 w 2193893"/>
                    <a:gd name="connsiteY2" fmla="*/ 8464 h 2193893"/>
                    <a:gd name="connsiteX3" fmla="*/ 2185429 w 2193893"/>
                    <a:gd name="connsiteY3" fmla="*/ 2026260 h 2193893"/>
                    <a:gd name="connsiteX4" fmla="*/ 2193893 w 2193893"/>
                    <a:gd name="connsiteY4" fmla="*/ 2193893 h 2193893"/>
                    <a:gd name="connsiteX5" fmla="*/ 0 w 2193893"/>
                    <a:gd name="connsiteY5" fmla="*/ 2193893 h 21938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193893" h="2193893">
                      <a:moveTo>
                        <a:pt x="0" y="2193893"/>
                      </a:moveTo>
                      <a:lnTo>
                        <a:pt x="0" y="0"/>
                      </a:lnTo>
                      <a:lnTo>
                        <a:pt x="167633" y="8464"/>
                      </a:lnTo>
                      <a:cubicBezTo>
                        <a:pt x="1231560" y="116512"/>
                        <a:pt x="2077381" y="962333"/>
                        <a:pt x="2185429" y="2026260"/>
                      </a:cubicBezTo>
                      <a:lnTo>
                        <a:pt x="2193893" y="2193893"/>
                      </a:lnTo>
                      <a:lnTo>
                        <a:pt x="0" y="2193893"/>
                      </a:lnTo>
                      <a:close/>
                    </a:path>
                  </a:pathLst>
                </a:custGeom>
                <a:solidFill>
                  <a:schemeClr val="tx2">
                    <a:lumMod val="2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24" name="Picture 23">
                  <a:extLst>
                    <a:ext uri="{FF2B5EF4-FFF2-40B4-BE49-F238E27FC236}">
                      <a16:creationId xmlns:a16="http://schemas.microsoft.com/office/drawing/2014/main" id="{B6D534F7-C5F8-84B3-DAF3-D41EC17D269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2807239">
                  <a:off x="3984701" y="2434329"/>
                  <a:ext cx="1296181" cy="1195507"/>
                </a:xfrm>
                <a:prstGeom prst="rect">
                  <a:avLst/>
                </a:prstGeom>
              </p:spPr>
            </p:pic>
            <p:pic>
              <p:nvPicPr>
                <p:cNvPr id="26" name="Picture 25">
                  <a:extLst>
                    <a:ext uri="{FF2B5EF4-FFF2-40B4-BE49-F238E27FC236}">
                      <a16:creationId xmlns:a16="http://schemas.microsoft.com/office/drawing/2014/main" id="{B17A1A99-28FB-E646-115B-30953E5FEEE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 rot="19007239">
                  <a:off x="3991119" y="4472208"/>
                  <a:ext cx="1309432" cy="1127167"/>
                </a:xfrm>
                <a:prstGeom prst="rect">
                  <a:avLst/>
                </a:prstGeom>
              </p:spPr>
            </p:pic>
          </p:grpSp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9F53A46D-75CB-2A4E-46AE-3446554B20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0800000">
                <a:off x="6471186" y="3400074"/>
                <a:ext cx="1259738" cy="1225477"/>
              </a:xfrm>
              <a:prstGeom prst="rect">
                <a:avLst/>
              </a:prstGeom>
            </p:spPr>
          </p:pic>
        </p:grp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D5FEBA7E-9D94-85F4-FC47-89E69CB0345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5400000">
              <a:off x="5003694" y="2025510"/>
              <a:ext cx="1218639" cy="1099863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136E36A-A9AD-A941-4E66-040EB2E3C062}"/>
              </a:ext>
            </a:extLst>
          </p:cNvPr>
          <p:cNvSpPr txBox="1"/>
          <p:nvPr/>
        </p:nvSpPr>
        <p:spPr>
          <a:xfrm>
            <a:off x="673252" y="2114417"/>
            <a:ext cx="558873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Cook’s D line not even visible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All low leverage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No influential points</a:t>
            </a:r>
          </a:p>
        </p:txBody>
      </p:sp>
    </p:spTree>
    <p:extLst>
      <p:ext uri="{BB962C8B-B14F-4D97-AF65-F5344CB8AC3E}">
        <p14:creationId xmlns:p14="http://schemas.microsoft.com/office/powerpoint/2010/main" val="24984659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6E9F8-C3CA-D1AD-5D7B-7F59E80A1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42278-89AD-8164-FE6B-E2B7FA917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Best Deck?</a:t>
            </a:r>
          </a:p>
        </p:txBody>
      </p:sp>
      <p:pic>
        <p:nvPicPr>
          <p:cNvPr id="8" name="Picture 7" descr="A screenshot of a video game">
            <a:extLst>
              <a:ext uri="{FF2B5EF4-FFF2-40B4-BE49-F238E27FC236}">
                <a16:creationId xmlns:a16="http://schemas.microsoft.com/office/drawing/2014/main" id="{BFF635D2-D083-A20F-3923-58E32B5856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9068" y="1027906"/>
            <a:ext cx="7434031" cy="5539260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A11BD43F-420D-782E-7E7B-905172E9EED7}"/>
              </a:ext>
            </a:extLst>
          </p:cNvPr>
          <p:cNvSpPr/>
          <p:nvPr/>
        </p:nvSpPr>
        <p:spPr>
          <a:xfrm>
            <a:off x="3352800" y="3340100"/>
            <a:ext cx="1117600" cy="142240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C7572A-F3DD-70ED-CFCB-6EDEF24AF9B0}"/>
              </a:ext>
            </a:extLst>
          </p:cNvPr>
          <p:cNvSpPr txBox="1"/>
          <p:nvPr/>
        </p:nvSpPr>
        <p:spPr>
          <a:xfrm>
            <a:off x="190500" y="3175000"/>
            <a:ext cx="31623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Straight</a:t>
            </a:r>
            <a:br>
              <a:rPr lang="en-US" sz="4000" dirty="0"/>
            </a:br>
            <a:r>
              <a:rPr lang="en-US" sz="7200" dirty="0">
                <a:latin typeface="Algerian" panose="04020705040A02060702" pitchFamily="82" charset="0"/>
              </a:rPr>
              <a:t>TRASH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859405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A0283-BB54-6F9C-4E8E-D2C3FF38C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145EB-138A-C798-8A94-4D5BF1607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Why does it suck?</a:t>
            </a:r>
          </a:p>
        </p:txBody>
      </p:sp>
      <p:pic>
        <p:nvPicPr>
          <p:cNvPr id="8" name="Picture 7" descr="A screenshot of a video game">
            <a:extLst>
              <a:ext uri="{FF2B5EF4-FFF2-40B4-BE49-F238E27FC236}">
                <a16:creationId xmlns:a16="http://schemas.microsoft.com/office/drawing/2014/main" id="{EF9045EE-D457-E0D2-9FEE-2E109BEEC8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0901" y="1444682"/>
            <a:ext cx="6261099" cy="466528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F645EE5-FB96-B5F2-5E79-0A69E2EFE7B7}"/>
              </a:ext>
            </a:extLst>
          </p:cNvPr>
          <p:cNvSpPr txBox="1"/>
          <p:nvPr/>
        </p:nvSpPr>
        <p:spPr>
          <a:xfrm>
            <a:off x="546100" y="2514600"/>
            <a:ext cx="58420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Lack of deck synergy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No spells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Low-use cards have unusual coefficients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Correlation not causation</a:t>
            </a:r>
          </a:p>
        </p:txBody>
      </p:sp>
    </p:spTree>
    <p:extLst>
      <p:ext uri="{BB962C8B-B14F-4D97-AF65-F5344CB8AC3E}">
        <p14:creationId xmlns:p14="http://schemas.microsoft.com/office/powerpoint/2010/main" val="21116038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944</TotalTime>
  <Words>501</Words>
  <Application>Microsoft Office PowerPoint</Application>
  <PresentationFormat>Widescreen</PresentationFormat>
  <Paragraphs>120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Algerian</vt:lpstr>
      <vt:lpstr>Aptos</vt:lpstr>
      <vt:lpstr>Aptos Display</vt:lpstr>
      <vt:lpstr>Arial</vt:lpstr>
      <vt:lpstr>Office Theme</vt:lpstr>
      <vt:lpstr>Mid-Ladder Menaces</vt:lpstr>
      <vt:lpstr>Why Do We Clash?</vt:lpstr>
      <vt:lpstr>Data Collection</vt:lpstr>
      <vt:lpstr>Data Collection</vt:lpstr>
      <vt:lpstr>A “Random” Sample</vt:lpstr>
      <vt:lpstr>Limitations</vt:lpstr>
      <vt:lpstr>10,000 Samples</vt:lpstr>
      <vt:lpstr>Initial Analyzing</vt:lpstr>
      <vt:lpstr>Initial Analyzing</vt:lpstr>
      <vt:lpstr>Initial Analyzing</vt:lpstr>
      <vt:lpstr>Initial Analyzing</vt:lpstr>
      <vt:lpstr>Initial Analyzing</vt:lpstr>
      <vt:lpstr>Case Study: Mega Knight</vt:lpstr>
      <vt:lpstr>Case Study: Mega Knight</vt:lpstr>
      <vt:lpstr>PowerPoint Presentation</vt:lpstr>
      <vt:lpstr>Case Study: Giant</vt:lpstr>
      <vt:lpstr>Regression Analysis</vt:lpstr>
      <vt:lpstr>Diagnostic Plots</vt:lpstr>
      <vt:lpstr>Diagnostic Plots</vt:lpstr>
      <vt:lpstr>Diagnostic Plots</vt:lpstr>
      <vt:lpstr>Diagnostic Plots</vt:lpstr>
      <vt:lpstr>Diagnostic Plots</vt:lpstr>
      <vt:lpstr>Best Deck?</vt:lpstr>
      <vt:lpstr>Why does it suck?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Yan, Nathan  (OTHS)</dc:creator>
  <cp:lastModifiedBy>Yan, Nathan  (OTHS)</cp:lastModifiedBy>
  <cp:revision>10</cp:revision>
  <dcterms:created xsi:type="dcterms:W3CDTF">2025-12-06T03:04:37Z</dcterms:created>
  <dcterms:modified xsi:type="dcterms:W3CDTF">2025-12-08T02:53:45Z</dcterms:modified>
</cp:coreProperties>
</file>